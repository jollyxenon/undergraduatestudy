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343" r:id="rId2"/>
    <p:sldId id="1181" r:id="rId3"/>
    <p:sldId id="1166" r:id="rId4"/>
    <p:sldId id="1167" r:id="rId5"/>
    <p:sldId id="1172" r:id="rId6"/>
    <p:sldId id="1171" r:id="rId7"/>
    <p:sldId id="1168" r:id="rId8"/>
    <p:sldId id="1169" r:id="rId9"/>
    <p:sldId id="1173" r:id="rId10"/>
    <p:sldId id="1176" r:id="rId11"/>
    <p:sldId id="1177" r:id="rId12"/>
    <p:sldId id="1179" r:id="rId13"/>
    <p:sldId id="1178" r:id="rId14"/>
    <p:sldId id="1180" r:id="rId15"/>
    <p:sldId id="1174" r:id="rId16"/>
    <p:sldId id="1175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61" autoAdjust="0"/>
    <p:restoredTop sz="94660"/>
  </p:normalViewPr>
  <p:slideViewPr>
    <p:cSldViewPr snapToGrid="0">
      <p:cViewPr varScale="1">
        <p:scale>
          <a:sx n="99" d="100"/>
          <a:sy n="99" d="100"/>
        </p:scale>
        <p:origin x="7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12D4BE-9E72-4F9E-ABA1-5B52F1885DF6}" type="datetimeFigureOut">
              <a:rPr lang="zh-CN" altLang="en-US" smtClean="0"/>
              <a:t>2025/5/12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4D8AEA-3065-409D-A51C-02CF7AB395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92558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(c) 1Clz*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4D8AEA-3065-409D-A51C-02CF7AB39504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47783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7">
            <a:extLst>
              <a:ext uri="{FF2B5EF4-FFF2-40B4-BE49-F238E27FC236}">
                <a16:creationId xmlns:a16="http://schemas.microsoft.com/office/drawing/2014/main" id="{4FE88CBC-1639-4369-A0A2-BDEE99133A8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281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图片 8">
            <a:extLst>
              <a:ext uri="{FF2B5EF4-FFF2-40B4-BE49-F238E27FC236}">
                <a16:creationId xmlns:a16="http://schemas.microsoft.com/office/drawing/2014/main" id="{8AC7FC00-7837-422C-9ED4-756CBDC6CA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995" b="29204"/>
          <a:stretch>
            <a:fillRect/>
          </a:stretch>
        </p:blipFill>
        <p:spPr bwMode="auto">
          <a:xfrm>
            <a:off x="8255000" y="0"/>
            <a:ext cx="3937000" cy="4854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7" name="对象 13">
            <a:extLst>
              <a:ext uri="{FF2B5EF4-FFF2-40B4-BE49-F238E27FC236}">
                <a16:creationId xmlns:a16="http://schemas.microsoft.com/office/drawing/2014/main" id="{B57EC23D-DAD6-40B7-9F05-C218FE41C973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4564063" y="5583238"/>
          <a:ext cx="1579562" cy="504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5274360" imgH="792360" progId="Word.Document.12">
                  <p:embed/>
                </p:oleObj>
              </mc:Choice>
              <mc:Fallback>
                <p:oleObj r:id="rId3" imgW="5274360" imgH="792360" progId="Word.Document.12">
                  <p:embed/>
                  <p:pic>
                    <p:nvPicPr>
                      <p:cNvPr id="7" name="对象 13">
                        <a:extLst>
                          <a:ext uri="{FF2B5EF4-FFF2-40B4-BE49-F238E27FC236}">
                            <a16:creationId xmlns:a16="http://schemas.microsoft.com/office/drawing/2014/main" id="{B57EC23D-DAD6-40B7-9F05-C218FE41C97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64063" y="5583238"/>
                        <a:ext cx="1579562" cy="504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38100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7376" y="836715"/>
            <a:ext cx="10363200" cy="1470025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775520" y="2852936"/>
            <a:ext cx="8534400" cy="79208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10" name="日期占位符 3">
            <a:extLst>
              <a:ext uri="{FF2B5EF4-FFF2-40B4-BE49-F238E27FC236}">
                <a16:creationId xmlns:a16="http://schemas.microsoft.com/office/drawing/2014/main" id="{5B0EE355-E4E7-44DB-82F0-316C120E846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4DCAD8-75F1-4895-BF9F-F01696766890}" type="datetime1">
              <a:rPr lang="zh-CN" altLang="en-US" smtClean="0"/>
              <a:t>2025/5/12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39671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5">
            <a:extLst>
              <a:ext uri="{FF2B5EF4-FFF2-40B4-BE49-F238E27FC236}">
                <a16:creationId xmlns:a16="http://schemas.microsoft.com/office/drawing/2014/main" id="{9B33AF57-BB3A-4BA8-9A7D-8A5FD353FDBD}"/>
              </a:ext>
            </a:extLst>
          </p:cNvPr>
          <p:cNvSpPr txBox="1"/>
          <p:nvPr userDrawn="1"/>
        </p:nvSpPr>
        <p:spPr bwMode="auto">
          <a:xfrm>
            <a:off x="122238" y="6284913"/>
            <a:ext cx="2651125" cy="492125"/>
          </a:xfrm>
          <a:prstGeom prst="rect">
            <a:avLst/>
          </a:prstGeom>
          <a:noFill/>
          <a:ln>
            <a:noFill/>
            <a:prstDash val="sysDot"/>
          </a:ln>
        </p:spPr>
        <p:txBody>
          <a:bodyPr>
            <a:spAutoFit/>
          </a:bodyPr>
          <a:lstStyle/>
          <a:p>
            <a:pPr defTabSz="122809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kumimoji="1" lang="zh-CN" altLang="en-US" sz="1400" spc="300" dirty="0">
                <a:solidFill>
                  <a:srgbClr val="A40008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创意与艺术学院</a:t>
            </a:r>
            <a:endParaRPr kumimoji="1" lang="en-US" altLang="zh-CN" sz="1400" spc="300" dirty="0">
              <a:solidFill>
                <a:srgbClr val="A40008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defTabSz="122809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1200" spc="100" dirty="0">
                <a:solidFill>
                  <a:srgbClr val="AE3334"/>
                </a:solidFill>
                <a:latin typeface="Arial" panose="020B0604020202020204" pitchFamily="34" charset="0"/>
                <a:ea typeface="Gadugi" panose="020B0502040204020203" pitchFamily="34" charset="0"/>
                <a:cs typeface="Arial" panose="020B0604020202020204" pitchFamily="34" charset="0"/>
              </a:rPr>
              <a:t>School of Creativity and Art</a:t>
            </a:r>
            <a:r>
              <a:rPr kumimoji="1" lang="zh-CN" altLang="en-US" sz="1200" spc="300" dirty="0">
                <a:solidFill>
                  <a:srgbClr val="A40008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 </a:t>
            </a: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325563" y="417513"/>
            <a:ext cx="8834437" cy="86518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lang="zh-CN" altLang="en-US" sz="3200" b="1" kern="1200" dirty="0">
                <a:solidFill>
                  <a:srgbClr val="4454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parajita" pitchFamily="34" charset="0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295400" y="1660525"/>
            <a:ext cx="10287000" cy="42164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 noProof="1"/>
              <a:t>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3950627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tmp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7BC2913-74FE-E1DF-293D-0D945C004877}"/>
              </a:ext>
            </a:extLst>
          </p:cNvPr>
          <p:cNvSpPr/>
          <p:nvPr userDrawn="1"/>
        </p:nvSpPr>
        <p:spPr bwMode="auto">
          <a:xfrm>
            <a:off x="3145217" y="2205832"/>
            <a:ext cx="1308100" cy="5016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zh-CN" altLang="en-US" noProof="1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9626289-4B9F-52E1-0B35-6F6570BC59B3}"/>
              </a:ext>
            </a:extLst>
          </p:cNvPr>
          <p:cNvSpPr/>
          <p:nvPr userDrawn="1"/>
        </p:nvSpPr>
        <p:spPr>
          <a:xfrm>
            <a:off x="11574" y="315351"/>
            <a:ext cx="1158875" cy="477837"/>
          </a:xfrm>
          <a:prstGeom prst="rect">
            <a:avLst/>
          </a:prstGeom>
          <a:solidFill>
            <a:srgbClr val="A40008"/>
          </a:solidFill>
          <a:ln>
            <a:solidFill>
              <a:srgbClr val="A4000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zh-CN" altLang="en-US" noProof="1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2AE00A25-9AEE-5747-C594-32A82DE957E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491699" y="6357349"/>
            <a:ext cx="2478947" cy="40008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9645057-B69A-1C04-9C89-B527B7AEB179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02498" y="45720"/>
            <a:ext cx="1088281" cy="774138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DCCA5DA4-34A4-55A9-0B2C-30FCF38FEFA7}"/>
              </a:ext>
            </a:extLst>
          </p:cNvPr>
          <p:cNvSpPr/>
          <p:nvPr userDrawn="1"/>
        </p:nvSpPr>
        <p:spPr>
          <a:xfrm>
            <a:off x="11574" y="819857"/>
            <a:ext cx="12180426" cy="45719"/>
          </a:xfrm>
          <a:prstGeom prst="rect">
            <a:avLst/>
          </a:prstGeom>
          <a:solidFill>
            <a:srgbClr val="A40008"/>
          </a:solidFill>
          <a:ln>
            <a:solidFill>
              <a:srgbClr val="A4000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zh-CN" altLang="en-US" noProof="1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5A8100B1-D8E9-E1B3-11CF-71E9E893B975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9935" y="6357349"/>
            <a:ext cx="1828866" cy="404052"/>
          </a:xfrm>
          <a:prstGeom prst="rect">
            <a:avLst/>
          </a:prstGeom>
        </p:spPr>
      </p:pic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8C21509-F52F-E5FF-ECE4-5FAE62DE6D6E}"/>
              </a:ext>
            </a:extLst>
          </p:cNvPr>
          <p:cNvCxnSpPr>
            <a:cxnSpLocks/>
          </p:cNvCxnSpPr>
          <p:nvPr userDrawn="1"/>
        </p:nvCxnSpPr>
        <p:spPr>
          <a:xfrm>
            <a:off x="7539318" y="6309719"/>
            <a:ext cx="4641108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标题 1">
            <a:extLst>
              <a:ext uri="{FF2B5EF4-FFF2-40B4-BE49-F238E27FC236}">
                <a16:creationId xmlns:a16="http://schemas.microsoft.com/office/drawing/2014/main" id="{09627CE6-A212-5B9D-77CE-C2673A4ACF83}"/>
              </a:ext>
            </a:extLst>
          </p:cNvPr>
          <p:cNvSpPr txBox="1">
            <a:spLocks/>
          </p:cNvSpPr>
          <p:nvPr userDrawn="1"/>
        </p:nvSpPr>
        <p:spPr>
          <a:xfrm>
            <a:off x="1325563" y="199303"/>
            <a:ext cx="8834437" cy="66314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685800" rtl="0" eaLnBrk="0" fontAlgn="base" hangingPunct="0">
              <a:spcBef>
                <a:spcPct val="0"/>
              </a:spcBef>
              <a:spcAft>
                <a:spcPct val="0"/>
              </a:spcAft>
              <a:defRPr lang="zh-CN" altLang="en-US" sz="3200" b="1" kern="1200" dirty="0">
                <a:solidFill>
                  <a:srgbClr val="4454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parajita" pitchFamily="34" charset="0"/>
              </a:defRPr>
            </a:lvl1pPr>
            <a:lvl2pPr algn="l" defTabSz="685800" rtl="0" eaLnBrk="0" fontAlgn="base" hangingPunct="0">
              <a:spcBef>
                <a:spcPct val="0"/>
              </a:spcBef>
              <a:spcAft>
                <a:spcPct val="0"/>
              </a:spcAft>
              <a:defRPr sz="27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 algn="l" defTabSz="685800" rtl="0" eaLnBrk="0" fontAlgn="base" hangingPunct="0">
              <a:spcBef>
                <a:spcPct val="0"/>
              </a:spcBef>
              <a:spcAft>
                <a:spcPct val="0"/>
              </a:spcAft>
              <a:defRPr sz="27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3pPr>
            <a:lvl4pPr algn="l" defTabSz="685800" rtl="0" eaLnBrk="0" fontAlgn="base" hangingPunct="0">
              <a:spcBef>
                <a:spcPct val="0"/>
              </a:spcBef>
              <a:spcAft>
                <a:spcPct val="0"/>
              </a:spcAft>
              <a:defRPr sz="27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4pPr>
            <a:lvl5pPr algn="l" defTabSz="685800" rtl="0" eaLnBrk="0" fontAlgn="base" hangingPunct="0">
              <a:spcBef>
                <a:spcPct val="0"/>
              </a:spcBef>
              <a:spcAft>
                <a:spcPct val="0"/>
              </a:spcAft>
              <a:defRPr sz="27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5pPr>
            <a:lvl6pPr marL="457200" algn="l" defTabSz="685800" rtl="0" fontAlgn="base">
              <a:spcBef>
                <a:spcPct val="0"/>
              </a:spcBef>
              <a:spcAft>
                <a:spcPct val="0"/>
              </a:spcAft>
              <a:defRPr sz="27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6pPr>
            <a:lvl7pPr marL="914400" algn="l" defTabSz="685800" rtl="0" fontAlgn="base">
              <a:spcBef>
                <a:spcPct val="0"/>
              </a:spcBef>
              <a:spcAft>
                <a:spcPct val="0"/>
              </a:spcAft>
              <a:defRPr sz="27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7pPr>
            <a:lvl8pPr marL="1371600" algn="l" defTabSz="685800" rtl="0" fontAlgn="base">
              <a:spcBef>
                <a:spcPct val="0"/>
              </a:spcBef>
              <a:spcAft>
                <a:spcPct val="0"/>
              </a:spcAft>
              <a:defRPr sz="27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8pPr>
            <a:lvl9pPr marL="1828800" algn="l" defTabSz="685800" rtl="0" fontAlgn="base">
              <a:spcBef>
                <a:spcPct val="0"/>
              </a:spcBef>
              <a:spcAft>
                <a:spcPct val="0"/>
              </a:spcAft>
              <a:defRPr sz="27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9pPr>
          </a:lstStyle>
          <a:p>
            <a:endParaRPr lang="zh-CN" altLang="en-US" dirty="0">
              <a:solidFill>
                <a:srgbClr val="002060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5125598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hdr="0" ftr="0" dt="0"/>
  <p:txStyles>
    <p:titleStyle>
      <a:lvl1pPr algn="l" defTabSz="685800" rtl="0" eaLnBrk="0" fontAlgn="base" hangingPunct="0">
        <a:spcBef>
          <a:spcPct val="0"/>
        </a:spcBef>
        <a:spcAft>
          <a:spcPct val="0"/>
        </a:spcAft>
        <a:defRPr sz="2700" kern="12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  <a:cs typeface="+mj-cs"/>
        </a:defRPr>
      </a:lvl1pPr>
      <a:lvl2pPr algn="l" defTabSz="685800" rtl="0" eaLnBrk="0" fontAlgn="base" hangingPunct="0">
        <a:spcBef>
          <a:spcPct val="0"/>
        </a:spcBef>
        <a:spcAft>
          <a:spcPct val="0"/>
        </a:spcAft>
        <a:defRPr sz="27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</a:defRPr>
      </a:lvl2pPr>
      <a:lvl3pPr algn="l" defTabSz="685800" rtl="0" eaLnBrk="0" fontAlgn="base" hangingPunct="0">
        <a:spcBef>
          <a:spcPct val="0"/>
        </a:spcBef>
        <a:spcAft>
          <a:spcPct val="0"/>
        </a:spcAft>
        <a:defRPr sz="27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</a:defRPr>
      </a:lvl3pPr>
      <a:lvl4pPr algn="l" defTabSz="685800" rtl="0" eaLnBrk="0" fontAlgn="base" hangingPunct="0">
        <a:spcBef>
          <a:spcPct val="0"/>
        </a:spcBef>
        <a:spcAft>
          <a:spcPct val="0"/>
        </a:spcAft>
        <a:defRPr sz="27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</a:defRPr>
      </a:lvl4pPr>
      <a:lvl5pPr algn="l" defTabSz="685800" rtl="0" eaLnBrk="0" fontAlgn="base" hangingPunct="0">
        <a:spcBef>
          <a:spcPct val="0"/>
        </a:spcBef>
        <a:spcAft>
          <a:spcPct val="0"/>
        </a:spcAft>
        <a:defRPr sz="27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</a:defRPr>
      </a:lvl5pPr>
      <a:lvl6pPr marL="457200" algn="l" defTabSz="685800" rtl="0" fontAlgn="base">
        <a:spcBef>
          <a:spcPct val="0"/>
        </a:spcBef>
        <a:spcAft>
          <a:spcPct val="0"/>
        </a:spcAft>
        <a:defRPr sz="27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</a:defRPr>
      </a:lvl6pPr>
      <a:lvl7pPr marL="914400" algn="l" defTabSz="685800" rtl="0" fontAlgn="base">
        <a:spcBef>
          <a:spcPct val="0"/>
        </a:spcBef>
        <a:spcAft>
          <a:spcPct val="0"/>
        </a:spcAft>
        <a:defRPr sz="27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</a:defRPr>
      </a:lvl7pPr>
      <a:lvl8pPr marL="1371600" algn="l" defTabSz="685800" rtl="0" fontAlgn="base">
        <a:spcBef>
          <a:spcPct val="0"/>
        </a:spcBef>
        <a:spcAft>
          <a:spcPct val="0"/>
        </a:spcAft>
        <a:defRPr sz="27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</a:defRPr>
      </a:lvl8pPr>
      <a:lvl9pPr marL="1828800" algn="l" defTabSz="685800" rtl="0" fontAlgn="base">
        <a:spcBef>
          <a:spcPct val="0"/>
        </a:spcBef>
        <a:spcAft>
          <a:spcPct val="0"/>
        </a:spcAft>
        <a:defRPr sz="27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</a:defRPr>
      </a:lvl9pPr>
    </p:titleStyle>
    <p:bodyStyle>
      <a:lvl1pPr marL="257175" indent="-257175" algn="l" defTabSz="6858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  <a:cs typeface="+mn-cs"/>
        </a:defRPr>
      </a:lvl1pPr>
      <a:lvl2pPr marL="557213" indent="-214313" algn="l" defTabSz="6858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100" kern="12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  <a:cs typeface="+mn-cs"/>
        </a:defRPr>
      </a:lvl2pPr>
      <a:lvl3pPr marL="857250" indent="-171450" algn="l" defTabSz="6858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  <a:cs typeface="+mn-cs"/>
        </a:defRPr>
      </a:lvl3pPr>
      <a:lvl4pPr marL="1200150" indent="-171450" algn="l" defTabSz="6858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  <a:cs typeface="+mn-cs"/>
        </a:defRPr>
      </a:lvl4pPr>
      <a:lvl5pPr marL="1543050" indent="-171450" algn="l" defTabSz="6858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500" kern="12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 bwMode="auto">
          <a:xfrm>
            <a:off x="1205336" y="1008381"/>
            <a:ext cx="9781327" cy="5201879"/>
          </a:xfrm>
          <a:prstGeom prst="rect">
            <a:avLst/>
          </a:prstGeom>
          <a:noFill/>
          <a:ln>
            <a:noFill/>
          </a:ln>
        </p:spPr>
        <p:txBody>
          <a:bodyPr wrap="square" lIns="487582" tIns="91422" rIns="487582" bIns="195033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普通化学</a:t>
            </a: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Ⅰ</a:t>
            </a: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习题课</a:t>
            </a:r>
            <a:endParaRPr kumimoji="0" lang="en-US" altLang="zh-CN" sz="3600" b="1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等线" panose="02010600030101010101" pitchFamily="2" charset="-122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400" b="1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24.11.16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400" b="1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400" b="1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400" b="1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400" b="1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marL="0" marR="0" lvl="0" indent="0" algn="ctr" defTabSz="1228090" rtl="0" eaLnBrk="0" fontAlgn="base" latinLnBrk="0" hangingPunct="0">
              <a:lnSpc>
                <a:spcPct val="89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1" i="0" u="none" strike="noStrike" kern="1200" cap="none" spc="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钱桄明</a:t>
            </a:r>
            <a:r>
              <a:rPr kumimoji="0" lang="en-US" altLang="zh-CN" sz="2000" b="1" i="0" u="none" strike="noStrike" kern="1200" cap="none" spc="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 qiangm2024@shanghaitech.edu.cn</a:t>
            </a:r>
          </a:p>
          <a:p>
            <a:pPr marL="0" marR="0" lvl="0" indent="0" algn="ctr" defTabSz="1228090" rtl="0" eaLnBrk="0" fontAlgn="base" latinLnBrk="0" hangingPunct="0">
              <a:lnSpc>
                <a:spcPct val="89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400" b="1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marL="0" marR="0" lvl="0" indent="0" algn="ctr" defTabSz="1228090" rtl="0" eaLnBrk="0" fontAlgn="base" latinLnBrk="0" hangingPunct="0">
              <a:lnSpc>
                <a:spcPct val="89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400" b="1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marL="0" marR="0" lvl="0" indent="0" algn="ctr" defTabSz="1228090" rtl="0" eaLnBrk="0" fontAlgn="base" latinLnBrk="0" hangingPunct="0">
              <a:lnSpc>
                <a:spcPct val="89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400" b="1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marL="0" marR="0" lvl="0" indent="0" algn="ctr" defTabSz="1228090" rtl="0" eaLnBrk="0" fontAlgn="base" latinLnBrk="0" hangingPunct="0">
              <a:lnSpc>
                <a:spcPct val="89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400" b="1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42BB8BB-A290-0E6B-6EA5-48BCE39DC46F}"/>
              </a:ext>
            </a:extLst>
          </p:cNvPr>
          <p:cNvSpPr txBox="1"/>
          <p:nvPr/>
        </p:nvSpPr>
        <p:spPr bwMode="auto">
          <a:xfrm>
            <a:off x="6833937" y="5847347"/>
            <a:ext cx="5358063" cy="10106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487582" tIns="91422" rIns="487582" bIns="195033" rtlCol="0">
            <a:spAutoFit/>
          </a:bodyPr>
          <a:lstStyle/>
          <a:p>
            <a:pPr marL="0" marR="0" lvl="0" indent="0" algn="l" defTabSz="1228090" rtl="0" eaLnBrk="1" fontAlgn="auto" latinLnBrk="0" hangingPunct="1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100" normalizeH="0" baseline="0" noProof="0" dirty="0">
              <a:ln>
                <a:noFill/>
              </a:ln>
              <a:solidFill>
                <a:srgbClr val="AE3334"/>
              </a:solidFill>
              <a:effectLst/>
              <a:uLnTx/>
              <a:uFillTx/>
              <a:latin typeface="Arial" panose="020B0604020202020204" pitchFamily="34" charset="0"/>
              <a:ea typeface="Gadugi" panose="020B0502040204020203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6EA63-8E4D-B80A-774B-24E77E4A1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>
            <a:extLst>
              <a:ext uri="{FF2B5EF4-FFF2-40B4-BE49-F238E27FC236}">
                <a16:creationId xmlns:a16="http://schemas.microsoft.com/office/drawing/2014/main" id="{99312694-A041-2541-271F-9F1035BA3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4679" y="266383"/>
            <a:ext cx="8834437" cy="591241"/>
          </a:xfrm>
        </p:spPr>
        <p:txBody>
          <a:bodyPr>
            <a:normAutofit/>
          </a:bodyPr>
          <a:lstStyle/>
          <a:p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Midterm2</a:t>
            </a:r>
            <a:endParaRPr lang="en-US" altLang="zh-CN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C58006C-477A-4379-2664-B7193DF17249}"/>
              </a:ext>
            </a:extLst>
          </p:cNvPr>
          <p:cNvSpPr txBox="1"/>
          <p:nvPr/>
        </p:nvSpPr>
        <p:spPr bwMode="auto">
          <a:xfrm>
            <a:off x="4681" y="6154457"/>
            <a:ext cx="3332747" cy="565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487582" tIns="91422" rIns="487582" bIns="195033" rtlCol="0">
            <a:spAutoFit/>
          </a:bodyPr>
          <a:lstStyle/>
          <a:p>
            <a:pPr marL="0" marR="0" lvl="0" indent="0" algn="l" defTabSz="1228090" rtl="0" eaLnBrk="1" fontAlgn="auto" latinLnBrk="0" hangingPunct="1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100" normalizeH="0" baseline="0" noProof="0" dirty="0">
              <a:ln>
                <a:noFill/>
              </a:ln>
              <a:solidFill>
                <a:srgbClr val="AE3334"/>
              </a:solidFill>
              <a:effectLst/>
              <a:uLnTx/>
              <a:uFillTx/>
              <a:latin typeface="Arial" panose="020B0604020202020204" pitchFamily="34" charset="0"/>
              <a:ea typeface="Gadugi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2802744-3E99-BFCD-E843-0B8DC925E38C}"/>
              </a:ext>
            </a:extLst>
          </p:cNvPr>
          <p:cNvSpPr/>
          <p:nvPr/>
        </p:nvSpPr>
        <p:spPr>
          <a:xfrm>
            <a:off x="7306733" y="5926666"/>
            <a:ext cx="4885267" cy="9313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CE551AC-DD9A-E20C-27C1-C18EADB34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66" y="1334997"/>
            <a:ext cx="10439348" cy="3491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974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61005-674A-1E81-AA8B-23D882266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>
            <a:extLst>
              <a:ext uri="{FF2B5EF4-FFF2-40B4-BE49-F238E27FC236}">
                <a16:creationId xmlns:a16="http://schemas.microsoft.com/office/drawing/2014/main" id="{B814050F-A32F-AF7A-3E4A-6AFF571D8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4679" y="266383"/>
            <a:ext cx="8834437" cy="591241"/>
          </a:xfrm>
        </p:spPr>
        <p:txBody>
          <a:bodyPr>
            <a:normAutofit/>
          </a:bodyPr>
          <a:lstStyle/>
          <a:p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Midterm2</a:t>
            </a:r>
            <a:endParaRPr lang="en-US" altLang="zh-CN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D606B82-DC05-623A-E905-3E8C34B1CEE2}"/>
              </a:ext>
            </a:extLst>
          </p:cNvPr>
          <p:cNvSpPr txBox="1"/>
          <p:nvPr/>
        </p:nvSpPr>
        <p:spPr bwMode="auto">
          <a:xfrm>
            <a:off x="4681" y="6154457"/>
            <a:ext cx="3332747" cy="565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487582" tIns="91422" rIns="487582" bIns="195033" rtlCol="0">
            <a:spAutoFit/>
          </a:bodyPr>
          <a:lstStyle/>
          <a:p>
            <a:pPr marL="0" marR="0" lvl="0" indent="0" algn="l" defTabSz="1228090" rtl="0" eaLnBrk="1" fontAlgn="auto" latinLnBrk="0" hangingPunct="1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100" normalizeH="0" baseline="0" noProof="0" dirty="0">
              <a:ln>
                <a:noFill/>
              </a:ln>
              <a:solidFill>
                <a:srgbClr val="AE3334"/>
              </a:solidFill>
              <a:effectLst/>
              <a:uLnTx/>
              <a:uFillTx/>
              <a:latin typeface="Arial" panose="020B0604020202020204" pitchFamily="34" charset="0"/>
              <a:ea typeface="Gadugi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FA91CD5-123F-7DDC-7D9F-B57B348FE350}"/>
              </a:ext>
            </a:extLst>
          </p:cNvPr>
          <p:cNvSpPr/>
          <p:nvPr/>
        </p:nvSpPr>
        <p:spPr>
          <a:xfrm>
            <a:off x="7306733" y="5926666"/>
            <a:ext cx="4885267" cy="9313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9729DB0-4C1A-E56B-592B-24AC6569F364}"/>
              </a:ext>
            </a:extLst>
          </p:cNvPr>
          <p:cNvSpPr txBox="1"/>
          <p:nvPr/>
        </p:nvSpPr>
        <p:spPr bwMode="auto">
          <a:xfrm>
            <a:off x="960120" y="1356730"/>
            <a:ext cx="9728200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dirty="0"/>
              <a:t>1.(1.8分)参考</a:t>
            </a:r>
            <a:r>
              <a:rPr lang="zh-CN" altLang="en-US" sz="2800" dirty="0">
                <a:solidFill>
                  <a:srgbClr val="FF0000"/>
                </a:solidFill>
              </a:rPr>
              <a:t>元素周期表</a:t>
            </a:r>
            <a:r>
              <a:rPr lang="zh-CN" altLang="en-US" sz="2800" dirty="0"/>
              <a:t>，将以下几组原子和分子的性质排序，并做简单解释。</a:t>
            </a:r>
            <a:endParaRPr lang="en-US" altLang="zh-CN" sz="28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CA6763F-F790-925D-5257-C0F4827D9592}"/>
              </a:ext>
            </a:extLst>
          </p:cNvPr>
          <p:cNvSpPr txBox="1"/>
          <p:nvPr/>
        </p:nvSpPr>
        <p:spPr bwMode="auto">
          <a:xfrm>
            <a:off x="641806" y="3164882"/>
            <a:ext cx="6986661" cy="25340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dirty="0"/>
              <a:t>(0.4分)排序:Na&lt;O&lt;Ne&lt;Na</a:t>
            </a:r>
            <a:r>
              <a:rPr lang="en-US" altLang="zh-CN" sz="2800" baseline="30000" dirty="0"/>
              <a:t>+</a:t>
            </a:r>
          </a:p>
          <a:p>
            <a:endParaRPr lang="en-US" altLang="zh-CN" sz="2800" baseline="-25000" dirty="0"/>
          </a:p>
          <a:p>
            <a:r>
              <a:rPr lang="zh-CN" altLang="en-US" sz="2800" dirty="0"/>
              <a:t>(0.2分)解释:Na&lt;O&lt;Ne为中性原子从周期表左下到右上依次增加，</a:t>
            </a:r>
            <a:endParaRPr lang="en-US" altLang="zh-CN" sz="2800" dirty="0"/>
          </a:p>
          <a:p>
            <a:r>
              <a:rPr lang="zh-CN" altLang="en-US" sz="2800" dirty="0">
                <a:solidFill>
                  <a:srgbClr val="FF0000"/>
                </a:solidFill>
              </a:rPr>
              <a:t>N</a:t>
            </a:r>
            <a:r>
              <a:rPr lang="en-US" altLang="zh-CN" sz="2800" dirty="0">
                <a:solidFill>
                  <a:srgbClr val="FF0000"/>
                </a:solidFill>
              </a:rPr>
              <a:t>e</a:t>
            </a:r>
            <a:r>
              <a:rPr lang="zh-CN" altLang="en-US" sz="2800" dirty="0">
                <a:solidFill>
                  <a:srgbClr val="FF0000"/>
                </a:solidFill>
              </a:rPr>
              <a:t>和Na</a:t>
            </a:r>
            <a:r>
              <a:rPr lang="en-US" altLang="zh-CN" sz="2800" baseline="30000" dirty="0">
                <a:solidFill>
                  <a:srgbClr val="FF0000"/>
                </a:solidFill>
              </a:rPr>
              <a:t>+</a:t>
            </a:r>
            <a:r>
              <a:rPr lang="zh-CN" altLang="en-US" sz="2800" dirty="0">
                <a:solidFill>
                  <a:srgbClr val="FF0000"/>
                </a:solidFill>
              </a:rPr>
              <a:t>为等电子体但 Na</a:t>
            </a:r>
            <a:r>
              <a:rPr lang="en-US" altLang="zh-CN" sz="2800" baseline="30000" dirty="0">
                <a:solidFill>
                  <a:srgbClr val="FF0000"/>
                </a:solidFill>
              </a:rPr>
              <a:t>+</a:t>
            </a:r>
            <a:r>
              <a:rPr lang="zh-CN" altLang="en-US" sz="2800" dirty="0">
                <a:solidFill>
                  <a:srgbClr val="FF0000"/>
                </a:solidFill>
              </a:rPr>
              <a:t>的原子序数更大</a:t>
            </a:r>
            <a:r>
              <a:rPr lang="zh-CN" altLang="en-US" sz="2800" dirty="0"/>
              <a:t>(并带正电荷)。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4BABF92-56C4-510D-594C-B14D0DB3F65B}"/>
              </a:ext>
            </a:extLst>
          </p:cNvPr>
          <p:cNvSpPr txBox="1"/>
          <p:nvPr/>
        </p:nvSpPr>
        <p:spPr bwMode="auto">
          <a:xfrm>
            <a:off x="960120" y="2403928"/>
            <a:ext cx="10036387" cy="5232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dirty="0"/>
              <a:t>(a)Na，Na</a:t>
            </a:r>
            <a:r>
              <a:rPr lang="en-US" altLang="zh-CN" sz="2800" baseline="30000" dirty="0"/>
              <a:t>+</a:t>
            </a:r>
            <a:r>
              <a:rPr lang="zh-CN" altLang="en-US" sz="2800" dirty="0"/>
              <a:t>，O，Ne:</a:t>
            </a:r>
            <a:r>
              <a:rPr lang="zh-CN" altLang="en-US" sz="2800" dirty="0">
                <a:solidFill>
                  <a:srgbClr val="FF0000"/>
                </a:solidFill>
              </a:rPr>
              <a:t>第一电离能</a:t>
            </a:r>
            <a:r>
              <a:rPr lang="zh-CN" altLang="en-US" sz="2800" dirty="0"/>
              <a:t>由小到大。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FA4FD8CA-BE64-BB73-D864-4B05067DC0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0307" y="2230945"/>
            <a:ext cx="4314693" cy="3037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52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6CFCF-9C55-AF7C-7382-D2E14D17D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>
            <a:extLst>
              <a:ext uri="{FF2B5EF4-FFF2-40B4-BE49-F238E27FC236}">
                <a16:creationId xmlns:a16="http://schemas.microsoft.com/office/drawing/2014/main" id="{0465DD6E-BAB5-DFA1-B236-9868325AD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4679" y="266383"/>
            <a:ext cx="8834437" cy="591241"/>
          </a:xfrm>
        </p:spPr>
        <p:txBody>
          <a:bodyPr>
            <a:normAutofit/>
          </a:bodyPr>
          <a:lstStyle/>
          <a:p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Midterm2</a:t>
            </a:r>
            <a:endParaRPr lang="en-US" altLang="zh-CN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BCB88EC-A968-70C4-5B02-EEF4A4406B1C}"/>
              </a:ext>
            </a:extLst>
          </p:cNvPr>
          <p:cNvSpPr txBox="1"/>
          <p:nvPr/>
        </p:nvSpPr>
        <p:spPr bwMode="auto">
          <a:xfrm>
            <a:off x="4681" y="6154457"/>
            <a:ext cx="3332747" cy="565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487582" tIns="91422" rIns="487582" bIns="195033" rtlCol="0">
            <a:spAutoFit/>
          </a:bodyPr>
          <a:lstStyle/>
          <a:p>
            <a:pPr marL="0" marR="0" lvl="0" indent="0" algn="l" defTabSz="1228090" rtl="0" eaLnBrk="1" fontAlgn="auto" latinLnBrk="0" hangingPunct="1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100" normalizeH="0" baseline="0" noProof="0" dirty="0">
              <a:ln>
                <a:noFill/>
              </a:ln>
              <a:solidFill>
                <a:srgbClr val="AE3334"/>
              </a:solidFill>
              <a:effectLst/>
              <a:uLnTx/>
              <a:uFillTx/>
              <a:latin typeface="Arial" panose="020B0604020202020204" pitchFamily="34" charset="0"/>
              <a:ea typeface="Gadugi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E1A8C7E-18DB-F7EC-ADD3-466B96CD2461}"/>
              </a:ext>
            </a:extLst>
          </p:cNvPr>
          <p:cNvSpPr/>
          <p:nvPr/>
        </p:nvSpPr>
        <p:spPr>
          <a:xfrm>
            <a:off x="7306733" y="5926666"/>
            <a:ext cx="4885267" cy="9313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1D5B5B1-79D9-38D9-D437-997E6E498FA0}"/>
              </a:ext>
            </a:extLst>
          </p:cNvPr>
          <p:cNvSpPr txBox="1"/>
          <p:nvPr/>
        </p:nvSpPr>
        <p:spPr bwMode="auto">
          <a:xfrm>
            <a:off x="1200573" y="1129260"/>
            <a:ext cx="6106160" cy="5232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zh-CN"/>
            </a:defPPr>
            <a:lvl1pPr>
              <a:defRPr sz="2800"/>
            </a:lvl1pPr>
          </a:lstStyle>
          <a:p>
            <a:r>
              <a:rPr lang="zh-CN" altLang="en-US" dirty="0"/>
              <a:t>(b)H，F，N，Zn:电负性由小到大。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A57F54D-03BB-8412-C5BD-F6371B39FF77}"/>
              </a:ext>
            </a:extLst>
          </p:cNvPr>
          <p:cNvSpPr txBox="1"/>
          <p:nvPr/>
        </p:nvSpPr>
        <p:spPr bwMode="auto">
          <a:xfrm>
            <a:off x="1194679" y="1842486"/>
            <a:ext cx="6264454" cy="13849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dirty="0"/>
              <a:t>(0.4分)排序:Zn&lt;H&lt;N&lt;F</a:t>
            </a:r>
            <a:endParaRPr lang="en-US" altLang="zh-CN" sz="2800" dirty="0"/>
          </a:p>
          <a:p>
            <a:r>
              <a:rPr lang="zh-CN" altLang="en-US" sz="2800" dirty="0"/>
              <a:t>(0.2分)解释:Zn为金属，</a:t>
            </a:r>
            <a:r>
              <a:rPr lang="zh-CN" altLang="en-US" sz="2800" dirty="0">
                <a:solidFill>
                  <a:srgbClr val="FF0000"/>
                </a:solidFill>
              </a:rPr>
              <a:t>H的电负性居中</a:t>
            </a:r>
            <a:r>
              <a:rPr lang="zh-CN" altLang="en-US" sz="2800" dirty="0"/>
              <a:t>，和F分别为VA和VIA族非金属。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C3FAEDD-0474-68E0-D006-8B2E89B97913}"/>
              </a:ext>
            </a:extLst>
          </p:cNvPr>
          <p:cNvSpPr txBox="1"/>
          <p:nvPr/>
        </p:nvSpPr>
        <p:spPr bwMode="auto">
          <a:xfrm>
            <a:off x="1194679" y="3601411"/>
            <a:ext cx="8906933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dirty="0"/>
              <a:t>(c)CO2，SO2，〇3，N2O:分子极性从弱到强。</a:t>
            </a:r>
            <a:endParaRPr lang="en-US" altLang="zh-CN" sz="2800" dirty="0"/>
          </a:p>
          <a:p>
            <a:r>
              <a:rPr lang="zh-CN" altLang="en-US" sz="2800" dirty="0">
                <a:solidFill>
                  <a:srgbClr val="FF0000"/>
                </a:solidFill>
              </a:rPr>
              <a:t>(提示:综合考虑分子形状、形式电荷和电负性)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9BDA708-87E4-15CB-7B31-2FC2C50F51C2}"/>
              </a:ext>
            </a:extLst>
          </p:cNvPr>
          <p:cNvSpPr txBox="1"/>
          <p:nvPr/>
        </p:nvSpPr>
        <p:spPr bwMode="auto">
          <a:xfrm>
            <a:off x="1194679" y="4775735"/>
            <a:ext cx="10511017" cy="13849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dirty="0"/>
              <a:t>(0.4分)排序:CO2&lt;N</a:t>
            </a:r>
            <a:r>
              <a:rPr lang="en-US" altLang="zh-CN" sz="2800" dirty="0"/>
              <a:t>2</a:t>
            </a:r>
            <a:r>
              <a:rPr lang="zh-CN" altLang="en-US" sz="2800" dirty="0"/>
              <a:t>O&lt;O3&lt;SO2</a:t>
            </a:r>
            <a:endParaRPr lang="en-US" altLang="zh-CN" sz="2800" dirty="0"/>
          </a:p>
          <a:p>
            <a:r>
              <a:rPr lang="zh-CN" altLang="en-US" sz="2800" dirty="0"/>
              <a:t>(0.2分)解释:CO2和 N20为直线形分子，O和SO2为接近120°的折线形，而SO</a:t>
            </a:r>
            <a:r>
              <a:rPr lang="en-US" altLang="zh-CN" sz="2800" dirty="0"/>
              <a:t>2</a:t>
            </a:r>
            <a:r>
              <a:rPr lang="zh-CN" altLang="en-US" sz="2800" dirty="0"/>
              <a:t>的电负性差更大。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41E37F4D-C8F0-DCE6-2A34-F4AD06B4E4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5308" y="929284"/>
            <a:ext cx="3707616" cy="2810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272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  <p:bldP spid="9" grpId="0"/>
      <p:bldP spid="1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06F45-C5BA-3483-559D-179DEF131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>
            <a:extLst>
              <a:ext uri="{FF2B5EF4-FFF2-40B4-BE49-F238E27FC236}">
                <a16:creationId xmlns:a16="http://schemas.microsoft.com/office/drawing/2014/main" id="{EA6D11BE-45E0-3C39-D745-520D45D36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4679" y="266383"/>
            <a:ext cx="8834437" cy="591241"/>
          </a:xfrm>
        </p:spPr>
        <p:txBody>
          <a:bodyPr>
            <a:normAutofit/>
          </a:bodyPr>
          <a:lstStyle/>
          <a:p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Midterm2</a:t>
            </a:r>
            <a:endParaRPr lang="en-US" altLang="zh-CN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52AA52F-96B3-819D-2248-46B3A21B9080}"/>
              </a:ext>
            </a:extLst>
          </p:cNvPr>
          <p:cNvSpPr txBox="1"/>
          <p:nvPr/>
        </p:nvSpPr>
        <p:spPr bwMode="auto">
          <a:xfrm>
            <a:off x="4681" y="6154457"/>
            <a:ext cx="3332747" cy="565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487582" tIns="91422" rIns="487582" bIns="195033" rtlCol="0">
            <a:spAutoFit/>
          </a:bodyPr>
          <a:lstStyle/>
          <a:p>
            <a:pPr marL="0" marR="0" lvl="0" indent="0" algn="l" defTabSz="1228090" rtl="0" eaLnBrk="1" fontAlgn="auto" latinLnBrk="0" hangingPunct="1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100" normalizeH="0" baseline="0" noProof="0" dirty="0">
              <a:ln>
                <a:noFill/>
              </a:ln>
              <a:solidFill>
                <a:srgbClr val="AE3334"/>
              </a:solidFill>
              <a:effectLst/>
              <a:uLnTx/>
              <a:uFillTx/>
              <a:latin typeface="Arial" panose="020B0604020202020204" pitchFamily="34" charset="0"/>
              <a:ea typeface="Gadugi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F936FF4-C498-22C2-DB51-0054CDDAB473}"/>
              </a:ext>
            </a:extLst>
          </p:cNvPr>
          <p:cNvSpPr/>
          <p:nvPr/>
        </p:nvSpPr>
        <p:spPr>
          <a:xfrm>
            <a:off x="7306733" y="5926666"/>
            <a:ext cx="4885267" cy="9313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B984338-6DB2-165F-AF2D-645994D67E6B}"/>
              </a:ext>
            </a:extLst>
          </p:cNvPr>
          <p:cNvSpPr txBox="1"/>
          <p:nvPr/>
        </p:nvSpPr>
        <p:spPr bwMode="auto">
          <a:xfrm>
            <a:off x="977900" y="1051468"/>
            <a:ext cx="610446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400" b="0" i="0" dirty="0">
                <a:solidFill>
                  <a:srgbClr val="111111"/>
                </a:solidFill>
                <a:effectLst/>
                <a:latin typeface="Arial" panose="020B0604020202020204" pitchFamily="34" charset="0"/>
              </a:rPr>
              <a:t>价层电子对互斥理论</a:t>
            </a:r>
            <a:endParaRPr lang="zh-CN" altLang="en-US" sz="24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2C35546-E8C2-1A17-8F93-2FB9BC314988}"/>
              </a:ext>
            </a:extLst>
          </p:cNvPr>
          <p:cNvSpPr txBox="1"/>
          <p:nvPr/>
        </p:nvSpPr>
        <p:spPr bwMode="auto">
          <a:xfrm>
            <a:off x="977900" y="1706977"/>
            <a:ext cx="10155767" cy="15696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400" b="1" i="0" dirty="0">
                <a:solidFill>
                  <a:srgbClr val="111111"/>
                </a:solidFill>
                <a:effectLst/>
                <a:latin typeface="Arial" panose="020B0604020202020204" pitchFamily="34" charset="0"/>
              </a:rPr>
              <a:t>价层电子对互斥理论</a:t>
            </a:r>
            <a:r>
              <a:rPr lang="zh-CN" altLang="en-US" sz="2400" b="0" i="0" dirty="0">
                <a:solidFill>
                  <a:srgbClr val="111111"/>
                </a:solidFill>
                <a:effectLst/>
                <a:latin typeface="Arial" panose="020B0604020202020204" pitchFamily="34" charset="0"/>
              </a:rPr>
              <a:t> </a:t>
            </a:r>
            <a:r>
              <a:rPr lang="en-US" altLang="zh-CN" sz="2400" b="0" i="0" dirty="0">
                <a:solidFill>
                  <a:srgbClr val="111111"/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zh-CN" altLang="en-US" sz="2400" b="0" i="0" dirty="0">
                <a:solidFill>
                  <a:srgbClr val="111111"/>
                </a:solidFill>
                <a:effectLst/>
                <a:latin typeface="Arial" panose="020B0604020202020204" pitchFamily="34" charset="0"/>
              </a:rPr>
              <a:t>英文</a:t>
            </a:r>
            <a:r>
              <a:rPr lang="en-US" altLang="zh-CN" sz="2400" b="0" i="0" dirty="0">
                <a:solidFill>
                  <a:srgbClr val="111111"/>
                </a:solidFill>
                <a:effectLst/>
                <a:latin typeface="Arial" panose="020B0604020202020204" pitchFamily="34" charset="0"/>
              </a:rPr>
              <a:t>VSEPR)</a:t>
            </a:r>
            <a:r>
              <a:rPr lang="zh-CN" altLang="en-US" sz="2400" b="0" i="0" dirty="0">
                <a:solidFill>
                  <a:srgbClr val="111111"/>
                </a:solidFill>
                <a:effectLst/>
                <a:latin typeface="Arial" panose="020B0604020202020204" pitchFamily="34" charset="0"/>
              </a:rPr>
              <a:t>，是一个用来预测单个 共价 分子形态的化学模型。 理论通过计算中心</a:t>
            </a:r>
            <a:r>
              <a:rPr lang="zh-CN" altLang="en-US" sz="2400" b="0" i="0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原子的价层电子数和配位数</a:t>
            </a:r>
            <a:r>
              <a:rPr lang="zh-CN" altLang="en-US" sz="2400" b="0" i="0" dirty="0">
                <a:solidFill>
                  <a:srgbClr val="111111"/>
                </a:solidFill>
                <a:effectLst/>
                <a:latin typeface="Arial" panose="020B0604020202020204" pitchFamily="34" charset="0"/>
              </a:rPr>
              <a:t>来预测分子的几何构型，并构建一个合理的</a:t>
            </a:r>
            <a:r>
              <a:rPr lang="zh-CN" altLang="en-US" sz="2400" b="0" i="0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路易斯结构式</a:t>
            </a:r>
            <a:r>
              <a:rPr lang="zh-CN" altLang="en-US" sz="2400" b="0" i="0" dirty="0">
                <a:solidFill>
                  <a:srgbClr val="111111"/>
                </a:solidFill>
                <a:effectLst/>
                <a:latin typeface="Arial" panose="020B0604020202020204" pitchFamily="34" charset="0"/>
              </a:rPr>
              <a:t>来表示分子中所有键和孤对电子的位置。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645791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B4AE0-6EEA-D3B1-1517-5334FB2C0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>
            <a:extLst>
              <a:ext uri="{FF2B5EF4-FFF2-40B4-BE49-F238E27FC236}">
                <a16:creationId xmlns:a16="http://schemas.microsoft.com/office/drawing/2014/main" id="{1D5982B7-AA71-F7B2-3829-C32B7FF18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4679" y="266383"/>
            <a:ext cx="8834437" cy="591241"/>
          </a:xfrm>
        </p:spPr>
        <p:txBody>
          <a:bodyPr>
            <a:normAutofit/>
          </a:bodyPr>
          <a:lstStyle/>
          <a:p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Midterm2</a:t>
            </a:r>
            <a:endParaRPr lang="en-US" altLang="zh-CN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2E0B416-4149-4F6F-C0B7-84C157878470}"/>
              </a:ext>
            </a:extLst>
          </p:cNvPr>
          <p:cNvSpPr txBox="1"/>
          <p:nvPr/>
        </p:nvSpPr>
        <p:spPr bwMode="auto">
          <a:xfrm>
            <a:off x="4681" y="6154457"/>
            <a:ext cx="3332747" cy="565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487582" tIns="91422" rIns="487582" bIns="195033" rtlCol="0">
            <a:spAutoFit/>
          </a:bodyPr>
          <a:lstStyle/>
          <a:p>
            <a:pPr marL="0" marR="0" lvl="0" indent="0" algn="l" defTabSz="1228090" rtl="0" eaLnBrk="1" fontAlgn="auto" latinLnBrk="0" hangingPunct="1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100" normalizeH="0" baseline="0" noProof="0" dirty="0">
              <a:ln>
                <a:noFill/>
              </a:ln>
              <a:solidFill>
                <a:srgbClr val="AE3334"/>
              </a:solidFill>
              <a:effectLst/>
              <a:uLnTx/>
              <a:uFillTx/>
              <a:latin typeface="Arial" panose="020B0604020202020204" pitchFamily="34" charset="0"/>
              <a:ea typeface="Gadugi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80AFAC3-8C32-EBC0-663E-940263A7C4B0}"/>
              </a:ext>
            </a:extLst>
          </p:cNvPr>
          <p:cNvSpPr/>
          <p:nvPr/>
        </p:nvSpPr>
        <p:spPr>
          <a:xfrm>
            <a:off x="7306733" y="5926666"/>
            <a:ext cx="4885267" cy="9313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613883B8-C978-D56D-F70E-2C31FE16B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3321" y="742950"/>
            <a:ext cx="8562975" cy="611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640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D960F-D133-9A6D-650E-A2E70D946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>
            <a:extLst>
              <a:ext uri="{FF2B5EF4-FFF2-40B4-BE49-F238E27FC236}">
                <a16:creationId xmlns:a16="http://schemas.microsoft.com/office/drawing/2014/main" id="{D9ECD23A-5DDF-61BB-118F-474D20E0A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4679" y="266383"/>
            <a:ext cx="8834437" cy="591241"/>
          </a:xfrm>
        </p:spPr>
        <p:txBody>
          <a:bodyPr>
            <a:normAutofit/>
          </a:bodyPr>
          <a:lstStyle/>
          <a:p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Midterm2</a:t>
            </a:r>
            <a:endParaRPr lang="en-US" altLang="zh-CN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187D3A8-3819-66FF-A3EE-39E50C91FB1C}"/>
              </a:ext>
            </a:extLst>
          </p:cNvPr>
          <p:cNvSpPr txBox="1"/>
          <p:nvPr/>
        </p:nvSpPr>
        <p:spPr bwMode="auto">
          <a:xfrm>
            <a:off x="4681" y="6154457"/>
            <a:ext cx="3332747" cy="565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487582" tIns="91422" rIns="487582" bIns="195033" rtlCol="0">
            <a:spAutoFit/>
          </a:bodyPr>
          <a:lstStyle/>
          <a:p>
            <a:pPr marL="0" marR="0" lvl="0" indent="0" algn="l" defTabSz="1228090" rtl="0" eaLnBrk="1" fontAlgn="auto" latinLnBrk="0" hangingPunct="1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100" normalizeH="0" baseline="0" noProof="0" dirty="0">
              <a:ln>
                <a:noFill/>
              </a:ln>
              <a:solidFill>
                <a:srgbClr val="AE3334"/>
              </a:solidFill>
              <a:effectLst/>
              <a:uLnTx/>
              <a:uFillTx/>
              <a:latin typeface="Arial" panose="020B0604020202020204" pitchFamily="34" charset="0"/>
              <a:ea typeface="Gadugi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2474F10-5D0A-FE46-7D56-647FFB43DC23}"/>
              </a:ext>
            </a:extLst>
          </p:cNvPr>
          <p:cNvSpPr/>
          <p:nvPr/>
        </p:nvSpPr>
        <p:spPr>
          <a:xfrm>
            <a:off x="7306733" y="5926666"/>
            <a:ext cx="4885267" cy="9313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0818BBB-DBAA-BAB6-AA01-DCC22ADBBFA4}"/>
              </a:ext>
            </a:extLst>
          </p:cNvPr>
          <p:cNvSpPr txBox="1"/>
          <p:nvPr/>
        </p:nvSpPr>
        <p:spPr bwMode="auto">
          <a:xfrm>
            <a:off x="1122183" y="1002837"/>
            <a:ext cx="8906933" cy="26776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zh-CN" sz="2800" dirty="0"/>
              <a:t>2.(2.4</a:t>
            </a:r>
            <a:r>
              <a:rPr lang="zh-CN" altLang="en-US" sz="2800" dirty="0"/>
              <a:t>分</a:t>
            </a:r>
            <a:r>
              <a:rPr lang="en-US" altLang="zh-CN" sz="2800" dirty="0"/>
              <a:t>)</a:t>
            </a:r>
            <a:r>
              <a:rPr lang="zh-CN" altLang="en-US" sz="2800" dirty="0"/>
              <a:t>对于下列分子或离子，给出中心原子的孤对电子数，根据</a:t>
            </a:r>
            <a:r>
              <a:rPr lang="en-US" altLang="zh-CN" sz="2800" dirty="0">
                <a:solidFill>
                  <a:srgbClr val="FF0000"/>
                </a:solidFill>
              </a:rPr>
              <a:t>VSEPR</a:t>
            </a:r>
            <a:r>
              <a:rPr lang="zh-CN" altLang="en-US" sz="2800" dirty="0">
                <a:solidFill>
                  <a:srgbClr val="FF0000"/>
                </a:solidFill>
              </a:rPr>
              <a:t>理论</a:t>
            </a:r>
            <a:r>
              <a:rPr lang="zh-CN" altLang="en-US" sz="2800" dirty="0"/>
              <a:t>画出孤对电子</a:t>
            </a:r>
            <a:r>
              <a:rPr lang="en-US" altLang="zh-CN" sz="2800" dirty="0"/>
              <a:t>(</a:t>
            </a:r>
            <a:r>
              <a:rPr lang="zh-CN" altLang="en-US" sz="2800" dirty="0"/>
              <a:t>如有</a:t>
            </a:r>
            <a:r>
              <a:rPr lang="en-US" altLang="zh-CN" sz="2800" dirty="0"/>
              <a:t>)</a:t>
            </a:r>
            <a:r>
              <a:rPr lang="zh-CN" altLang="en-US" sz="2800" dirty="0"/>
              <a:t>和配体的空间相对位置，并</a:t>
            </a:r>
            <a:r>
              <a:rPr lang="zh-CN" altLang="en-US" sz="2800" dirty="0">
                <a:solidFill>
                  <a:srgbClr val="FF0000"/>
                </a:solidFill>
              </a:rPr>
              <a:t>描述离子的几何形状</a:t>
            </a:r>
            <a:r>
              <a:rPr lang="zh-CN" altLang="en-US" sz="2800" dirty="0"/>
              <a:t>。要求</a:t>
            </a:r>
            <a:r>
              <a:rPr lang="en-US" altLang="zh-CN" sz="2800" dirty="0"/>
              <a:t>:</a:t>
            </a:r>
            <a:r>
              <a:rPr lang="zh-CN" altLang="en-US" sz="2800" dirty="0">
                <a:solidFill>
                  <a:srgbClr val="FF0000"/>
                </a:solidFill>
              </a:rPr>
              <a:t>配体的孤对电子无需画出</a:t>
            </a:r>
            <a:r>
              <a:rPr lang="en-US" altLang="zh-CN" sz="2800" dirty="0">
                <a:solidFill>
                  <a:srgbClr val="FF0000"/>
                </a:solidFill>
              </a:rPr>
              <a:t>;</a:t>
            </a:r>
            <a:r>
              <a:rPr lang="zh-CN" altLang="en-US" sz="2800" dirty="0">
                <a:solidFill>
                  <a:srgbClr val="FF0000"/>
                </a:solidFill>
              </a:rPr>
              <a:t>空间位置能适当表现即可，无需用立体符号</a:t>
            </a:r>
            <a:r>
              <a:rPr lang="zh-CN" altLang="en-US" sz="2800" dirty="0"/>
              <a:t>。</a:t>
            </a:r>
            <a:r>
              <a:rPr lang="en-US" altLang="zh-CN" sz="2800" dirty="0"/>
              <a:t>(</a:t>
            </a:r>
            <a:r>
              <a:rPr lang="zh-CN" altLang="en-US" sz="2800" dirty="0"/>
              <a:t>每小题 </a:t>
            </a:r>
            <a:r>
              <a:rPr lang="en-US" altLang="zh-CN" sz="2800" dirty="0"/>
              <a:t>0.6</a:t>
            </a:r>
            <a:r>
              <a:rPr lang="zh-CN" altLang="en-US" sz="2800" dirty="0"/>
              <a:t>分，其中孤对电子数</a:t>
            </a:r>
            <a:r>
              <a:rPr lang="en-US" altLang="zh-CN" sz="2800" dirty="0"/>
              <a:t>0.1</a:t>
            </a:r>
            <a:r>
              <a:rPr lang="zh-CN" altLang="en-US" sz="2800" dirty="0"/>
              <a:t>分，杂化类型</a:t>
            </a:r>
            <a:r>
              <a:rPr lang="en-US" altLang="zh-CN" sz="2800" dirty="0"/>
              <a:t>0.1</a:t>
            </a:r>
            <a:r>
              <a:rPr lang="zh-CN" altLang="en-US" sz="2800" dirty="0"/>
              <a:t>分，结构</a:t>
            </a:r>
            <a:r>
              <a:rPr lang="en-US" altLang="zh-CN" sz="2800" dirty="0"/>
              <a:t>0.2</a:t>
            </a:r>
            <a:r>
              <a:rPr lang="zh-CN" altLang="en-US" sz="2800" dirty="0"/>
              <a:t>分，文字述</a:t>
            </a:r>
            <a:r>
              <a:rPr lang="en-US" altLang="zh-CN" sz="2800" dirty="0"/>
              <a:t>0.2</a:t>
            </a:r>
            <a:r>
              <a:rPr lang="zh-CN" altLang="en-US" sz="2800" dirty="0"/>
              <a:t>分</a:t>
            </a:r>
            <a:r>
              <a:rPr lang="en-US" altLang="zh-CN" sz="2800" dirty="0"/>
              <a:t>)</a:t>
            </a:r>
            <a:endParaRPr lang="zh-CN" altLang="en-US" sz="2800" dirty="0">
              <a:solidFill>
                <a:srgbClr val="FF0000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1A8E131-FD47-E6C0-BC80-4341A697F2BA}"/>
              </a:ext>
            </a:extLst>
          </p:cNvPr>
          <p:cNvSpPr txBox="1"/>
          <p:nvPr/>
        </p:nvSpPr>
        <p:spPr bwMode="auto">
          <a:xfrm>
            <a:off x="1122183" y="4112492"/>
            <a:ext cx="1468617" cy="5232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zh-CN" sz="2800" dirty="0"/>
              <a:t>a)</a:t>
            </a:r>
            <a:r>
              <a:rPr lang="en-US" altLang="zh-CN" sz="2800" dirty="0">
                <a:solidFill>
                  <a:srgbClr val="FF0000"/>
                </a:solidFill>
              </a:rPr>
              <a:t>Cl</a:t>
            </a:r>
            <a:r>
              <a:rPr lang="en-US" altLang="zh-CN" sz="2800" dirty="0"/>
              <a:t>O</a:t>
            </a:r>
            <a:r>
              <a:rPr lang="en-US" altLang="zh-CN" sz="2800" baseline="-25000" dirty="0"/>
              <a:t>3</a:t>
            </a:r>
            <a:r>
              <a:rPr lang="en-US" altLang="zh-CN" sz="2800" baseline="30000" dirty="0"/>
              <a:t>-</a:t>
            </a:r>
            <a:endParaRPr lang="zh-CN" altLang="en-US" sz="2800" baseline="30000" dirty="0"/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DC8381EB-DA80-6677-DCB0-2E6480E7DF06}"/>
              </a:ext>
            </a:extLst>
          </p:cNvPr>
          <p:cNvGrpSpPr/>
          <p:nvPr/>
        </p:nvGrpSpPr>
        <p:grpSpPr>
          <a:xfrm>
            <a:off x="2485316" y="4290825"/>
            <a:ext cx="2755653" cy="1528624"/>
            <a:chOff x="1122183" y="4746862"/>
            <a:chExt cx="2755653" cy="1528624"/>
          </a:xfrm>
        </p:grpSpPr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15D33FDE-1E33-5769-1D82-38F0983B58BA}"/>
                </a:ext>
              </a:extLst>
            </p:cNvPr>
            <p:cNvSpPr txBox="1"/>
            <p:nvPr/>
          </p:nvSpPr>
          <p:spPr bwMode="auto">
            <a:xfrm>
              <a:off x="1122183" y="4746862"/>
              <a:ext cx="1468617" cy="37959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zh-CN" altLang="en-US" sz="2800" baseline="30000" dirty="0"/>
                <a:t>结构：</a:t>
              </a:r>
            </a:p>
          </p:txBody>
        </p:sp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FA6CC0FD-10A7-4EB5-BB71-6914A2245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23519" y="4746862"/>
              <a:ext cx="1954317" cy="1528624"/>
            </a:xfrm>
            <a:prstGeom prst="rect">
              <a:avLst/>
            </a:prstGeom>
          </p:spPr>
        </p:pic>
      </p:grpSp>
      <p:sp>
        <p:nvSpPr>
          <p:cNvPr id="14" name="文本框 13">
            <a:extLst>
              <a:ext uri="{FF2B5EF4-FFF2-40B4-BE49-F238E27FC236}">
                <a16:creationId xmlns:a16="http://schemas.microsoft.com/office/drawing/2014/main" id="{A604CAD8-EFC6-1BFB-B97D-E06AF49C8242}"/>
              </a:ext>
            </a:extLst>
          </p:cNvPr>
          <p:cNvSpPr txBox="1"/>
          <p:nvPr/>
        </p:nvSpPr>
        <p:spPr bwMode="auto">
          <a:xfrm>
            <a:off x="5710768" y="4290825"/>
            <a:ext cx="6104466" cy="152862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baseline="30000" dirty="0"/>
              <a:t>中心原子的孤对电子数：</a:t>
            </a:r>
            <a:r>
              <a:rPr lang="en-US" altLang="zh-CN" sz="2800" baseline="30000" dirty="0">
                <a:solidFill>
                  <a:srgbClr val="FF0000"/>
                </a:solidFill>
              </a:rPr>
              <a:t>1</a:t>
            </a:r>
            <a:r>
              <a:rPr lang="zh-CN" altLang="en-US" sz="2800" baseline="30000" dirty="0">
                <a:solidFill>
                  <a:srgbClr val="FF0000"/>
                </a:solidFill>
              </a:rPr>
              <a:t>对</a:t>
            </a:r>
            <a:endParaRPr lang="en-US" altLang="zh-CN" sz="2800" baseline="30000" dirty="0">
              <a:solidFill>
                <a:srgbClr val="FF0000"/>
              </a:solidFill>
            </a:endParaRPr>
          </a:p>
          <a:p>
            <a:endParaRPr lang="en-US" altLang="zh-CN" sz="2800" baseline="30000" dirty="0"/>
          </a:p>
          <a:p>
            <a:r>
              <a:rPr lang="zh-CN" altLang="en-US" sz="2800" baseline="30000" dirty="0"/>
              <a:t>中心原子的杂化类型：</a:t>
            </a:r>
            <a:r>
              <a:rPr lang="en-US" altLang="zh-CN" sz="2800" baseline="30000" dirty="0">
                <a:solidFill>
                  <a:srgbClr val="FF0000"/>
                </a:solidFill>
              </a:rPr>
              <a:t>sp3</a:t>
            </a:r>
          </a:p>
          <a:p>
            <a:endParaRPr lang="en-US" altLang="zh-CN" sz="2800" baseline="30000" dirty="0"/>
          </a:p>
          <a:p>
            <a:r>
              <a:rPr lang="zh-CN" altLang="en-US" sz="2800" baseline="30000" dirty="0"/>
              <a:t>分子形状：</a:t>
            </a:r>
            <a:r>
              <a:rPr lang="zh-CN" altLang="en-US" sz="2800" baseline="30000" dirty="0">
                <a:solidFill>
                  <a:srgbClr val="FF0000"/>
                </a:solidFill>
              </a:rPr>
              <a:t>三角锥</a:t>
            </a:r>
          </a:p>
        </p:txBody>
      </p:sp>
    </p:spTree>
    <p:extLst>
      <p:ext uri="{BB962C8B-B14F-4D97-AF65-F5344CB8AC3E}">
        <p14:creationId xmlns:p14="http://schemas.microsoft.com/office/powerpoint/2010/main" val="2520651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A3F76-6469-D254-3552-744C8A9EA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>
            <a:extLst>
              <a:ext uri="{FF2B5EF4-FFF2-40B4-BE49-F238E27FC236}">
                <a16:creationId xmlns:a16="http://schemas.microsoft.com/office/drawing/2014/main" id="{6620C0C4-B80E-CF78-A46B-256D4C6FB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4679" y="266383"/>
            <a:ext cx="8834437" cy="591241"/>
          </a:xfrm>
        </p:spPr>
        <p:txBody>
          <a:bodyPr>
            <a:normAutofit/>
          </a:bodyPr>
          <a:lstStyle/>
          <a:p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Midterm2</a:t>
            </a:r>
            <a:endParaRPr lang="en-US" altLang="zh-CN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08770C6-079F-DA4D-90AE-8F221669CE3E}"/>
              </a:ext>
            </a:extLst>
          </p:cNvPr>
          <p:cNvSpPr txBox="1"/>
          <p:nvPr/>
        </p:nvSpPr>
        <p:spPr bwMode="auto">
          <a:xfrm>
            <a:off x="4681" y="6154457"/>
            <a:ext cx="3332747" cy="565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487582" tIns="91422" rIns="487582" bIns="195033" rtlCol="0">
            <a:spAutoFit/>
          </a:bodyPr>
          <a:lstStyle/>
          <a:p>
            <a:pPr marL="0" marR="0" lvl="0" indent="0" algn="l" defTabSz="1228090" rtl="0" eaLnBrk="1" fontAlgn="auto" latinLnBrk="0" hangingPunct="1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100" normalizeH="0" baseline="0" noProof="0" dirty="0">
              <a:ln>
                <a:noFill/>
              </a:ln>
              <a:solidFill>
                <a:srgbClr val="AE3334"/>
              </a:solidFill>
              <a:effectLst/>
              <a:uLnTx/>
              <a:uFillTx/>
              <a:latin typeface="Arial" panose="020B0604020202020204" pitchFamily="34" charset="0"/>
              <a:ea typeface="Gadugi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1C92A2D-094D-AC69-E8A2-73E61C480110}"/>
              </a:ext>
            </a:extLst>
          </p:cNvPr>
          <p:cNvSpPr/>
          <p:nvPr/>
        </p:nvSpPr>
        <p:spPr>
          <a:xfrm>
            <a:off x="7302052" y="5926666"/>
            <a:ext cx="4885267" cy="9313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A27B140-5D45-2AD6-D82D-1F6639AD2792}"/>
              </a:ext>
            </a:extLst>
          </p:cNvPr>
          <p:cNvSpPr txBox="1"/>
          <p:nvPr/>
        </p:nvSpPr>
        <p:spPr bwMode="auto">
          <a:xfrm>
            <a:off x="800100" y="1237734"/>
            <a:ext cx="6104466" cy="5232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dirty="0"/>
              <a:t>b) </a:t>
            </a:r>
            <a:r>
              <a:rPr lang="zh-CN" altLang="en-US" sz="2800" dirty="0">
                <a:solidFill>
                  <a:srgbClr val="FF0000"/>
                </a:solidFill>
              </a:rPr>
              <a:t>P</a:t>
            </a:r>
            <a:r>
              <a:rPr lang="zh-CN" altLang="en-US" sz="2800" dirty="0"/>
              <a:t>OCl</a:t>
            </a:r>
            <a:r>
              <a:rPr lang="en-US" altLang="zh-CN" sz="2800" baseline="-25000" dirty="0"/>
              <a:t>3</a:t>
            </a:r>
            <a:endParaRPr lang="zh-CN" altLang="en-US" sz="2800" baseline="-25000" dirty="0"/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BCD4E3F6-2BB8-4DDA-BF2F-E6FAB09740B0}"/>
              </a:ext>
            </a:extLst>
          </p:cNvPr>
          <p:cNvGrpSpPr/>
          <p:nvPr/>
        </p:nvGrpSpPr>
        <p:grpSpPr>
          <a:xfrm>
            <a:off x="2204454" y="1053015"/>
            <a:ext cx="2994080" cy="1284160"/>
            <a:chOff x="2204454" y="1053015"/>
            <a:chExt cx="2994080" cy="1284160"/>
          </a:xfrm>
        </p:grpSpPr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F6ADFABA-3289-489E-2AD5-5676C44B0FF2}"/>
                </a:ext>
              </a:extLst>
            </p:cNvPr>
            <p:cNvSpPr txBox="1"/>
            <p:nvPr/>
          </p:nvSpPr>
          <p:spPr bwMode="auto">
            <a:xfrm>
              <a:off x="2204454" y="1329978"/>
              <a:ext cx="1947334" cy="53579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487582" tIns="91422" rIns="487582" bIns="195033" rtlCol="0">
              <a:spAutoFit/>
            </a:bodyPr>
            <a:lstStyle/>
            <a:p>
              <a:pPr marL="0" marR="0" indent="0" algn="l" defTabSz="1228090" rtl="0" eaLnBrk="1" fontAlgn="auto" latinLnBrk="0" hangingPunct="1">
                <a:lnSpc>
                  <a:spcPct val="89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r>
                <a:rPr kumimoji="0" lang="zh-CN" altLang="en-US" b="0" i="0" u="none" strike="noStrike" kern="1200" cap="none" spc="10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ea typeface="Gadugi" panose="020B0502040204020203" pitchFamily="34" charset="0"/>
                  <a:cs typeface="Arial" panose="020B0604020202020204" pitchFamily="34" charset="0"/>
                </a:rPr>
                <a:t>结构：</a:t>
              </a:r>
            </a:p>
          </p:txBody>
        </p:sp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D966E96E-13A0-1691-414B-225357542D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59146" y="1053015"/>
              <a:ext cx="1439388" cy="1284160"/>
            </a:xfrm>
            <a:prstGeom prst="rect">
              <a:avLst/>
            </a:prstGeom>
          </p:spPr>
        </p:pic>
      </p:grpSp>
      <p:sp>
        <p:nvSpPr>
          <p:cNvPr id="12" name="文本框 11">
            <a:extLst>
              <a:ext uri="{FF2B5EF4-FFF2-40B4-BE49-F238E27FC236}">
                <a16:creationId xmlns:a16="http://schemas.microsoft.com/office/drawing/2014/main" id="{E801B062-3787-9F18-73D2-9676E5A186EF}"/>
              </a:ext>
            </a:extLst>
          </p:cNvPr>
          <p:cNvSpPr txBox="1"/>
          <p:nvPr/>
        </p:nvSpPr>
        <p:spPr bwMode="auto">
          <a:xfrm>
            <a:off x="6218768" y="1053015"/>
            <a:ext cx="6104466" cy="152862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baseline="30000" dirty="0"/>
              <a:t>中心原子的孤对电子数：</a:t>
            </a:r>
            <a:r>
              <a:rPr lang="en-US" altLang="zh-CN" sz="2800" baseline="30000" dirty="0">
                <a:solidFill>
                  <a:srgbClr val="FF0000"/>
                </a:solidFill>
              </a:rPr>
              <a:t>0</a:t>
            </a:r>
            <a:r>
              <a:rPr lang="zh-CN" altLang="en-US" sz="2800" baseline="30000" dirty="0">
                <a:solidFill>
                  <a:srgbClr val="FF0000"/>
                </a:solidFill>
              </a:rPr>
              <a:t>对</a:t>
            </a:r>
            <a:endParaRPr lang="en-US" altLang="zh-CN" sz="2800" baseline="30000" dirty="0">
              <a:solidFill>
                <a:srgbClr val="FF0000"/>
              </a:solidFill>
            </a:endParaRPr>
          </a:p>
          <a:p>
            <a:endParaRPr lang="en-US" altLang="zh-CN" sz="2800" baseline="30000" dirty="0"/>
          </a:p>
          <a:p>
            <a:r>
              <a:rPr lang="zh-CN" altLang="en-US" sz="2800" baseline="30000" dirty="0"/>
              <a:t>中心原子的杂化类型：</a:t>
            </a:r>
            <a:r>
              <a:rPr lang="en-US" altLang="zh-CN" sz="2800" baseline="30000" dirty="0">
                <a:solidFill>
                  <a:srgbClr val="FF0000"/>
                </a:solidFill>
              </a:rPr>
              <a:t>sp3</a:t>
            </a:r>
          </a:p>
          <a:p>
            <a:endParaRPr lang="en-US" altLang="zh-CN" sz="2800" baseline="30000" dirty="0"/>
          </a:p>
          <a:p>
            <a:r>
              <a:rPr lang="zh-CN" altLang="en-US" sz="2800" baseline="30000" dirty="0"/>
              <a:t>分子形状：</a:t>
            </a:r>
            <a:r>
              <a:rPr lang="zh-CN" altLang="en-US" sz="2800" baseline="30000" dirty="0">
                <a:solidFill>
                  <a:srgbClr val="FF0000"/>
                </a:solidFill>
              </a:rPr>
              <a:t>四面体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483426A-7A0F-F7FE-82CC-4DA47E63D349}"/>
              </a:ext>
            </a:extLst>
          </p:cNvPr>
          <p:cNvSpPr txBox="1"/>
          <p:nvPr/>
        </p:nvSpPr>
        <p:spPr bwMode="auto">
          <a:xfrm>
            <a:off x="905934" y="2961749"/>
            <a:ext cx="6163732" cy="5232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dirty="0"/>
              <a:t>c) </a:t>
            </a:r>
            <a:r>
              <a:rPr lang="en-US" altLang="zh-CN" sz="2800" dirty="0">
                <a:solidFill>
                  <a:srgbClr val="FF0000"/>
                </a:solidFill>
              </a:rPr>
              <a:t>I</a:t>
            </a:r>
            <a:r>
              <a:rPr lang="zh-CN" altLang="en-US" sz="2800" dirty="0"/>
              <a:t>Cl</a:t>
            </a:r>
            <a:r>
              <a:rPr lang="en-US" altLang="zh-CN" sz="2800" baseline="-25000" dirty="0"/>
              <a:t>2</a:t>
            </a:r>
            <a:r>
              <a:rPr lang="en-US" altLang="zh-CN" sz="2800" baseline="30000" dirty="0"/>
              <a:t>+</a:t>
            </a:r>
            <a:endParaRPr lang="zh-CN" altLang="en-US" sz="2800" baseline="30000" dirty="0"/>
          </a:p>
        </p:txBody>
      </p: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403B935F-8A76-C784-3370-54E848CB43D4}"/>
              </a:ext>
            </a:extLst>
          </p:cNvPr>
          <p:cNvGrpSpPr/>
          <p:nvPr/>
        </p:nvGrpSpPr>
        <p:grpSpPr>
          <a:xfrm>
            <a:off x="2128254" y="2921206"/>
            <a:ext cx="3070280" cy="1496316"/>
            <a:chOff x="2128254" y="2921206"/>
            <a:chExt cx="3070280" cy="1496316"/>
          </a:xfrm>
        </p:grpSpPr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575F4EF1-AC8C-BE98-9A94-67A508B089E5}"/>
                </a:ext>
              </a:extLst>
            </p:cNvPr>
            <p:cNvSpPr txBox="1"/>
            <p:nvPr/>
          </p:nvSpPr>
          <p:spPr bwMode="auto">
            <a:xfrm>
              <a:off x="2128254" y="3002175"/>
              <a:ext cx="1947334" cy="53579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487582" tIns="91422" rIns="487582" bIns="195033" rtlCol="0">
              <a:spAutoFit/>
            </a:bodyPr>
            <a:lstStyle/>
            <a:p>
              <a:pPr marL="0" marR="0" indent="0" algn="l" defTabSz="1228090" rtl="0" eaLnBrk="1" fontAlgn="auto" latinLnBrk="0" hangingPunct="1">
                <a:lnSpc>
                  <a:spcPct val="89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r>
                <a:rPr kumimoji="0" lang="zh-CN" altLang="en-US" b="0" i="0" u="none" strike="noStrike" kern="1200" cap="none" spc="10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ea typeface="Gadugi" panose="020B0502040204020203" pitchFamily="34" charset="0"/>
                  <a:cs typeface="Arial" panose="020B0604020202020204" pitchFamily="34" charset="0"/>
                </a:rPr>
                <a:t>结构：</a:t>
              </a:r>
            </a:p>
          </p:txBody>
        </p:sp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ECC7543F-D242-263B-493A-9FE9F6C805F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24014"/>
            <a:stretch/>
          </p:blipFill>
          <p:spPr>
            <a:xfrm>
              <a:off x="3759146" y="2921206"/>
              <a:ext cx="1439388" cy="1496316"/>
            </a:xfrm>
            <a:prstGeom prst="rect">
              <a:avLst/>
            </a:prstGeom>
          </p:spPr>
        </p:pic>
      </p:grpSp>
      <p:sp>
        <p:nvSpPr>
          <p:cNvPr id="20" name="文本框 19">
            <a:extLst>
              <a:ext uri="{FF2B5EF4-FFF2-40B4-BE49-F238E27FC236}">
                <a16:creationId xmlns:a16="http://schemas.microsoft.com/office/drawing/2014/main" id="{829C7042-4C0B-640A-D7A6-96718CEC68F5}"/>
              </a:ext>
            </a:extLst>
          </p:cNvPr>
          <p:cNvSpPr txBox="1"/>
          <p:nvPr/>
        </p:nvSpPr>
        <p:spPr bwMode="auto">
          <a:xfrm>
            <a:off x="6218768" y="2996857"/>
            <a:ext cx="6104466" cy="152862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baseline="30000" dirty="0"/>
              <a:t>中心原子的孤对电子数：</a:t>
            </a:r>
            <a:r>
              <a:rPr lang="en-US" altLang="zh-CN" sz="2800" baseline="30000" dirty="0">
                <a:solidFill>
                  <a:srgbClr val="FF0000"/>
                </a:solidFill>
              </a:rPr>
              <a:t>2</a:t>
            </a:r>
            <a:r>
              <a:rPr lang="zh-CN" altLang="en-US" sz="2800" baseline="30000" dirty="0">
                <a:solidFill>
                  <a:srgbClr val="FF0000"/>
                </a:solidFill>
              </a:rPr>
              <a:t>对</a:t>
            </a:r>
            <a:endParaRPr lang="en-US" altLang="zh-CN" sz="2800" baseline="30000" dirty="0">
              <a:solidFill>
                <a:srgbClr val="FF0000"/>
              </a:solidFill>
            </a:endParaRPr>
          </a:p>
          <a:p>
            <a:endParaRPr lang="en-US" altLang="zh-CN" sz="2800" baseline="30000" dirty="0"/>
          </a:p>
          <a:p>
            <a:r>
              <a:rPr lang="zh-CN" altLang="en-US" sz="2800" baseline="30000" dirty="0"/>
              <a:t>中心原子的杂化类型：</a:t>
            </a:r>
            <a:r>
              <a:rPr lang="en-US" altLang="zh-CN" sz="2800" baseline="30000" dirty="0">
                <a:solidFill>
                  <a:srgbClr val="FF0000"/>
                </a:solidFill>
              </a:rPr>
              <a:t>sp3</a:t>
            </a:r>
            <a:r>
              <a:rPr lang="zh-CN" altLang="en-US" sz="2800" baseline="30000" dirty="0">
                <a:solidFill>
                  <a:srgbClr val="FF0000"/>
                </a:solidFill>
              </a:rPr>
              <a:t>杂化</a:t>
            </a:r>
            <a:endParaRPr lang="en-US" altLang="zh-CN" sz="2800" baseline="30000" dirty="0">
              <a:solidFill>
                <a:srgbClr val="FF0000"/>
              </a:solidFill>
            </a:endParaRPr>
          </a:p>
          <a:p>
            <a:endParaRPr lang="en-US" altLang="zh-CN" sz="2800" baseline="30000" dirty="0"/>
          </a:p>
          <a:p>
            <a:r>
              <a:rPr lang="zh-CN" altLang="en-US" sz="2800" baseline="30000" dirty="0"/>
              <a:t>分子形状：</a:t>
            </a:r>
            <a:r>
              <a:rPr lang="en-US" altLang="zh-CN" sz="2800" baseline="30000" dirty="0">
                <a:solidFill>
                  <a:srgbClr val="FF0000"/>
                </a:solidFill>
              </a:rPr>
              <a:t>bent </a:t>
            </a:r>
            <a:r>
              <a:rPr lang="zh-CN" altLang="en-US" sz="2800" baseline="30000" dirty="0">
                <a:solidFill>
                  <a:srgbClr val="FF0000"/>
                </a:solidFill>
              </a:rPr>
              <a:t>弯曲形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4B5043CA-9B57-3D74-B99A-2FA37565F683}"/>
              </a:ext>
            </a:extLst>
          </p:cNvPr>
          <p:cNvSpPr txBox="1"/>
          <p:nvPr/>
        </p:nvSpPr>
        <p:spPr bwMode="auto">
          <a:xfrm>
            <a:off x="905934" y="4641689"/>
            <a:ext cx="6163732" cy="5232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dirty="0"/>
              <a:t>d) H</a:t>
            </a:r>
            <a:r>
              <a:rPr lang="en-US" altLang="zh-CN" sz="2800" baseline="-25000" dirty="0"/>
              <a:t>2</a:t>
            </a:r>
            <a:r>
              <a:rPr lang="zh-CN" altLang="en-US" sz="2800" dirty="0"/>
              <a:t>C=</a:t>
            </a:r>
            <a:r>
              <a:rPr lang="zh-CN" altLang="en-US" sz="2800" dirty="0">
                <a:solidFill>
                  <a:srgbClr val="FF0000"/>
                </a:solidFill>
              </a:rPr>
              <a:t>S</a:t>
            </a:r>
            <a:r>
              <a:rPr lang="zh-CN" altLang="en-US" sz="2800" dirty="0"/>
              <a:t>F</a:t>
            </a:r>
            <a:r>
              <a:rPr lang="en-US" altLang="zh-CN" sz="2800" baseline="-25000" dirty="0"/>
              <a:t>4</a:t>
            </a:r>
            <a:endParaRPr lang="zh-CN" altLang="en-US" sz="2800" baseline="-25000" dirty="0"/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0959C3FB-09FB-F9E9-7403-516B7AE1D0EB}"/>
              </a:ext>
            </a:extLst>
          </p:cNvPr>
          <p:cNvGrpSpPr/>
          <p:nvPr/>
        </p:nvGrpSpPr>
        <p:grpSpPr>
          <a:xfrm>
            <a:off x="2363761" y="4701484"/>
            <a:ext cx="3303703" cy="1567144"/>
            <a:chOff x="2363761" y="4701484"/>
            <a:chExt cx="3303703" cy="1567144"/>
          </a:xfrm>
        </p:grpSpPr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CA3E9D33-EA80-6DAE-4A13-2B3C2C77EA7B}"/>
                </a:ext>
              </a:extLst>
            </p:cNvPr>
            <p:cNvSpPr txBox="1"/>
            <p:nvPr/>
          </p:nvSpPr>
          <p:spPr bwMode="auto">
            <a:xfrm>
              <a:off x="2363761" y="4701484"/>
              <a:ext cx="1947334" cy="53579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487582" tIns="91422" rIns="487582" bIns="195033" rtlCol="0">
              <a:spAutoFit/>
            </a:bodyPr>
            <a:lstStyle/>
            <a:p>
              <a:pPr marL="0" marR="0" indent="0" algn="l" defTabSz="1228090" rtl="0" eaLnBrk="1" fontAlgn="auto" latinLnBrk="0" hangingPunct="1">
                <a:lnSpc>
                  <a:spcPct val="89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r>
                <a:rPr kumimoji="0" lang="zh-CN" altLang="en-US" b="0" i="0" u="none" strike="noStrike" kern="1200" cap="none" spc="10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ea typeface="Gadugi" panose="020B0502040204020203" pitchFamily="34" charset="0"/>
                  <a:cs typeface="Arial" panose="020B0604020202020204" pitchFamily="34" charset="0"/>
                </a:rPr>
                <a:t>结构：</a:t>
              </a:r>
            </a:p>
          </p:txBody>
        </p:sp>
        <p:pic>
          <p:nvPicPr>
            <p:cNvPr id="28" name="图片 27">
              <a:extLst>
                <a:ext uri="{FF2B5EF4-FFF2-40B4-BE49-F238E27FC236}">
                  <a16:creationId xmlns:a16="http://schemas.microsoft.com/office/drawing/2014/main" id="{83D1E0A8-D38A-18B6-10ED-3ECE76D23D9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59145" y="4797632"/>
              <a:ext cx="1908319" cy="1470996"/>
            </a:xfrm>
            <a:prstGeom prst="rect">
              <a:avLst/>
            </a:prstGeom>
          </p:spPr>
        </p:pic>
      </p:grpSp>
      <p:sp>
        <p:nvSpPr>
          <p:cNvPr id="30" name="文本框 29">
            <a:extLst>
              <a:ext uri="{FF2B5EF4-FFF2-40B4-BE49-F238E27FC236}">
                <a16:creationId xmlns:a16="http://schemas.microsoft.com/office/drawing/2014/main" id="{76B5AF3D-5F0B-7FAA-42CC-809C9DFA1CB4}"/>
              </a:ext>
            </a:extLst>
          </p:cNvPr>
          <p:cNvSpPr txBox="1"/>
          <p:nvPr/>
        </p:nvSpPr>
        <p:spPr bwMode="auto">
          <a:xfrm>
            <a:off x="6218768" y="4855751"/>
            <a:ext cx="6104466" cy="152862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baseline="30000" dirty="0"/>
              <a:t>中心原子的孤对电子数：</a:t>
            </a:r>
            <a:r>
              <a:rPr lang="en-US" altLang="zh-CN" sz="2800" baseline="30000" dirty="0">
                <a:solidFill>
                  <a:srgbClr val="FF0000"/>
                </a:solidFill>
              </a:rPr>
              <a:t>0</a:t>
            </a:r>
            <a:r>
              <a:rPr lang="zh-CN" altLang="en-US" sz="2800" baseline="30000" dirty="0">
                <a:solidFill>
                  <a:srgbClr val="FF0000"/>
                </a:solidFill>
              </a:rPr>
              <a:t>个</a:t>
            </a:r>
            <a:endParaRPr lang="en-US" altLang="zh-CN" sz="2800" baseline="30000" dirty="0">
              <a:solidFill>
                <a:srgbClr val="FF0000"/>
              </a:solidFill>
            </a:endParaRPr>
          </a:p>
          <a:p>
            <a:endParaRPr lang="en-US" altLang="zh-CN" sz="2800" baseline="30000" dirty="0"/>
          </a:p>
          <a:p>
            <a:r>
              <a:rPr lang="zh-CN" altLang="en-US" sz="2800" baseline="30000" dirty="0"/>
              <a:t>中心原子的杂化类型：</a:t>
            </a:r>
            <a:r>
              <a:rPr lang="en-US" altLang="zh-CN" sz="2800" baseline="30000" dirty="0">
                <a:solidFill>
                  <a:srgbClr val="FF0000"/>
                </a:solidFill>
              </a:rPr>
              <a:t>sp3d</a:t>
            </a:r>
            <a:r>
              <a:rPr lang="zh-CN" altLang="en-US" sz="2800" baseline="30000" dirty="0">
                <a:solidFill>
                  <a:srgbClr val="FF0000"/>
                </a:solidFill>
              </a:rPr>
              <a:t>杂化</a:t>
            </a:r>
            <a:endParaRPr lang="en-US" altLang="zh-CN" sz="2800" baseline="30000" dirty="0">
              <a:solidFill>
                <a:srgbClr val="FF0000"/>
              </a:solidFill>
            </a:endParaRPr>
          </a:p>
          <a:p>
            <a:endParaRPr lang="en-US" altLang="zh-CN" sz="2800" baseline="30000" dirty="0"/>
          </a:p>
          <a:p>
            <a:r>
              <a:rPr lang="zh-CN" altLang="en-US" sz="2800" baseline="30000" dirty="0"/>
              <a:t>分子形状：</a:t>
            </a:r>
            <a:r>
              <a:rPr lang="zh-CN" altLang="en-US" sz="2800" baseline="30000" dirty="0">
                <a:solidFill>
                  <a:srgbClr val="FF0000"/>
                </a:solidFill>
              </a:rPr>
              <a:t>三角双锥</a:t>
            </a:r>
          </a:p>
        </p:txBody>
      </p:sp>
    </p:spTree>
    <p:extLst>
      <p:ext uri="{BB962C8B-B14F-4D97-AF65-F5344CB8AC3E}">
        <p14:creationId xmlns:p14="http://schemas.microsoft.com/office/powerpoint/2010/main" val="1596484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506F7-3EB0-6E9A-8153-F2669F20D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>
            <a:extLst>
              <a:ext uri="{FF2B5EF4-FFF2-40B4-BE49-F238E27FC236}">
                <a16:creationId xmlns:a16="http://schemas.microsoft.com/office/drawing/2014/main" id="{830D1DBA-B03E-A075-99A7-B2665BF91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4679" y="266383"/>
            <a:ext cx="8834437" cy="591241"/>
          </a:xfrm>
        </p:spPr>
        <p:txBody>
          <a:bodyPr>
            <a:normAutofit/>
          </a:bodyPr>
          <a:lstStyle/>
          <a:p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Midterm2</a:t>
            </a:r>
            <a:endParaRPr lang="en-US" altLang="zh-CN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CF31F7E-E228-B157-A7D3-ECC841073301}"/>
              </a:ext>
            </a:extLst>
          </p:cNvPr>
          <p:cNvSpPr txBox="1"/>
          <p:nvPr/>
        </p:nvSpPr>
        <p:spPr bwMode="auto">
          <a:xfrm>
            <a:off x="4681" y="6154457"/>
            <a:ext cx="3332747" cy="565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487582" tIns="91422" rIns="487582" bIns="195033" rtlCol="0">
            <a:spAutoFit/>
          </a:bodyPr>
          <a:lstStyle/>
          <a:p>
            <a:pPr marL="0" marR="0" lvl="0" indent="0" algn="l" defTabSz="1228090" rtl="0" eaLnBrk="1" fontAlgn="auto" latinLnBrk="0" hangingPunct="1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100" normalizeH="0" baseline="0" noProof="0" dirty="0">
              <a:ln>
                <a:noFill/>
              </a:ln>
              <a:solidFill>
                <a:srgbClr val="AE3334"/>
              </a:solidFill>
              <a:effectLst/>
              <a:uLnTx/>
              <a:uFillTx/>
              <a:latin typeface="Arial" panose="020B0604020202020204" pitchFamily="34" charset="0"/>
              <a:ea typeface="Gadugi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A4E509A-67DF-2C26-04C3-0239F1A3CB76}"/>
              </a:ext>
            </a:extLst>
          </p:cNvPr>
          <p:cNvSpPr/>
          <p:nvPr/>
        </p:nvSpPr>
        <p:spPr>
          <a:xfrm>
            <a:off x="7306733" y="5926666"/>
            <a:ext cx="4885267" cy="9313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8A92491-7F95-D054-5BC5-BD4B2E9330FE}"/>
              </a:ext>
            </a:extLst>
          </p:cNvPr>
          <p:cNvSpPr txBox="1"/>
          <p:nvPr/>
        </p:nvSpPr>
        <p:spPr bwMode="auto">
          <a:xfrm>
            <a:off x="590316" y="900428"/>
            <a:ext cx="11053043" cy="26776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dirty="0"/>
              <a:t>3.(1.5分)写出下列</a:t>
            </a:r>
            <a:r>
              <a:rPr lang="zh-CN" altLang="en-US" sz="2800" dirty="0">
                <a:solidFill>
                  <a:srgbClr val="FF0000"/>
                </a:solidFill>
              </a:rPr>
              <a:t>分子和离子的Lewis 结构式</a:t>
            </a:r>
            <a:r>
              <a:rPr lang="zh-CN" altLang="en-US" sz="2800" dirty="0"/>
              <a:t>。</a:t>
            </a:r>
            <a:endParaRPr lang="en-US" altLang="zh-CN" sz="2800" dirty="0"/>
          </a:p>
          <a:p>
            <a:r>
              <a:rPr lang="zh-CN" altLang="en-US" sz="2800" dirty="0"/>
              <a:t>要求:所有非氢原子满足八隅体规则;</a:t>
            </a:r>
            <a:endParaRPr lang="en-US" altLang="zh-CN" sz="2800" dirty="0"/>
          </a:p>
          <a:p>
            <a:r>
              <a:rPr lang="zh-CN" altLang="en-US" sz="2800" dirty="0"/>
              <a:t>用直线表示一对共享电子，不能省略孤对电子，</a:t>
            </a:r>
            <a:r>
              <a:rPr lang="zh-CN" altLang="en-US" sz="2800" b="1" dirty="0"/>
              <a:t>不要使用配位键或离域π键来标记</a:t>
            </a:r>
            <a:r>
              <a:rPr lang="zh-CN" altLang="en-US" sz="2800" dirty="0"/>
              <a:t>;</a:t>
            </a:r>
            <a:endParaRPr lang="en-US" altLang="zh-CN" sz="2800" dirty="0"/>
          </a:p>
          <a:p>
            <a:r>
              <a:rPr lang="zh-CN" altLang="en-US" sz="2800" dirty="0">
                <a:solidFill>
                  <a:srgbClr val="FF0000"/>
                </a:solidFill>
              </a:rPr>
              <a:t>实际电荷或形式电荷标记在原子旁边</a:t>
            </a:r>
            <a:r>
              <a:rPr lang="zh-CN" altLang="en-US" sz="2800" dirty="0"/>
              <a:t>，而不要给整个离子标记电荷:</a:t>
            </a:r>
            <a:endParaRPr lang="en-US" altLang="zh-CN" sz="2800" dirty="0"/>
          </a:p>
          <a:p>
            <a:r>
              <a:rPr lang="zh-CN" altLang="en-US" sz="2800" dirty="0"/>
              <a:t>如果有数量提示，则</a:t>
            </a:r>
            <a:r>
              <a:rPr lang="zh-CN" altLang="en-US" sz="2800" dirty="0">
                <a:solidFill>
                  <a:srgbClr val="FF0000"/>
                </a:solidFill>
              </a:rPr>
              <a:t>写出能量最低的几个共振结构</a:t>
            </a:r>
            <a:r>
              <a:rPr lang="zh-CN" altLang="en-US" sz="2800" dirty="0"/>
              <a:t>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7CBD85A-17A4-FAA2-8682-F85CF4E45891}"/>
              </a:ext>
            </a:extLst>
          </p:cNvPr>
          <p:cNvSpPr txBox="1"/>
          <p:nvPr/>
        </p:nvSpPr>
        <p:spPr bwMode="auto">
          <a:xfrm>
            <a:off x="818070" y="4604660"/>
            <a:ext cx="6106160" cy="5232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dirty="0"/>
              <a:t>(0.3分)(a)Al</a:t>
            </a:r>
            <a:r>
              <a:rPr lang="en-US" altLang="zh-CN" sz="2800" dirty="0"/>
              <a:t>2</a:t>
            </a:r>
            <a:r>
              <a:rPr lang="zh-CN" altLang="en-US" sz="2800" dirty="0"/>
              <a:t>Cl6(2个等价的A中心)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CFA84F70-6339-5A42-B442-A2E4C46BE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1153" y="3620888"/>
            <a:ext cx="4461657" cy="3027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771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F547D-7C1A-1708-3FEF-D6D16AB01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>
            <a:extLst>
              <a:ext uri="{FF2B5EF4-FFF2-40B4-BE49-F238E27FC236}">
                <a16:creationId xmlns:a16="http://schemas.microsoft.com/office/drawing/2014/main" id="{6B31E8E2-DDAB-F6E8-0791-1B1006BE7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4679" y="266383"/>
            <a:ext cx="8834437" cy="591241"/>
          </a:xfrm>
        </p:spPr>
        <p:txBody>
          <a:bodyPr>
            <a:normAutofit/>
          </a:bodyPr>
          <a:lstStyle/>
          <a:p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Midterm2</a:t>
            </a:r>
            <a:endParaRPr lang="en-US" altLang="zh-CN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7900974-793B-EEA2-AB7E-AB2E45D377DF}"/>
              </a:ext>
            </a:extLst>
          </p:cNvPr>
          <p:cNvSpPr txBox="1"/>
          <p:nvPr/>
        </p:nvSpPr>
        <p:spPr bwMode="auto">
          <a:xfrm>
            <a:off x="4681" y="6154457"/>
            <a:ext cx="3332747" cy="565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487582" tIns="91422" rIns="487582" bIns="195033" rtlCol="0">
            <a:spAutoFit/>
          </a:bodyPr>
          <a:lstStyle/>
          <a:p>
            <a:pPr marL="0" marR="0" lvl="0" indent="0" algn="l" defTabSz="1228090" rtl="0" eaLnBrk="1" fontAlgn="auto" latinLnBrk="0" hangingPunct="1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100" normalizeH="0" baseline="0" noProof="0" dirty="0">
              <a:ln>
                <a:noFill/>
              </a:ln>
              <a:solidFill>
                <a:srgbClr val="AE3334"/>
              </a:solidFill>
              <a:effectLst/>
              <a:uLnTx/>
              <a:uFillTx/>
              <a:latin typeface="Arial" panose="020B0604020202020204" pitchFamily="34" charset="0"/>
              <a:ea typeface="Gadugi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F1504D1-1333-F1E2-A3A4-41C1BCAB43F1}"/>
              </a:ext>
            </a:extLst>
          </p:cNvPr>
          <p:cNvSpPr/>
          <p:nvPr/>
        </p:nvSpPr>
        <p:spPr>
          <a:xfrm>
            <a:off x="7306733" y="5903843"/>
            <a:ext cx="4885267" cy="9313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177CA02-C9D3-869A-7E0A-D9F469629B31}"/>
              </a:ext>
            </a:extLst>
          </p:cNvPr>
          <p:cNvSpPr txBox="1"/>
          <p:nvPr/>
        </p:nvSpPr>
        <p:spPr bwMode="auto">
          <a:xfrm>
            <a:off x="1102360" y="1385054"/>
            <a:ext cx="9027160" cy="5232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dirty="0"/>
              <a:t>(0.3分x2)(b)CH2N2(</a:t>
            </a:r>
            <a:r>
              <a:rPr lang="zh-CN" altLang="en-US" sz="2800" dirty="0">
                <a:solidFill>
                  <a:srgbClr val="FF0000"/>
                </a:solidFill>
              </a:rPr>
              <a:t>2个共振结构，C-N-N 直线连接</a:t>
            </a:r>
            <a:r>
              <a:rPr lang="zh-CN" altLang="en-US" sz="2800" dirty="0"/>
              <a:t>)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A611E3B5-C71A-4916-6AC7-CE0604E2A3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2133000"/>
            <a:ext cx="5324475" cy="1677000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F684A76B-FAF3-B64D-0513-25267B42147A}"/>
              </a:ext>
            </a:extLst>
          </p:cNvPr>
          <p:cNvSpPr txBox="1"/>
          <p:nvPr/>
        </p:nvSpPr>
        <p:spPr bwMode="auto">
          <a:xfrm>
            <a:off x="1199514" y="4012732"/>
            <a:ext cx="10555605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dirty="0"/>
              <a:t>(0.3分x2)(c)写出C</a:t>
            </a:r>
            <a:r>
              <a:rPr lang="en-US" altLang="zh-CN" sz="2800" dirty="0"/>
              <a:t>3</a:t>
            </a:r>
            <a:r>
              <a:rPr lang="zh-CN" altLang="en-US" sz="2800" dirty="0"/>
              <a:t>H4的</a:t>
            </a:r>
            <a:r>
              <a:rPr lang="zh-CN" altLang="en-US" sz="2800" dirty="0">
                <a:solidFill>
                  <a:srgbClr val="FF0000"/>
                </a:solidFill>
              </a:rPr>
              <a:t>2种可能结构</a:t>
            </a:r>
            <a:r>
              <a:rPr lang="zh-CN" altLang="en-US" sz="2800" dirty="0"/>
              <a:t>，其中</a:t>
            </a:r>
            <a:r>
              <a:rPr lang="zh-CN" altLang="en-US" sz="2800" dirty="0">
                <a:solidFill>
                  <a:srgbClr val="FF0000"/>
                </a:solidFill>
              </a:rPr>
              <a:t>3个C均为直线连接</a:t>
            </a:r>
            <a:r>
              <a:rPr lang="zh-CN" altLang="en-US" sz="2800" dirty="0"/>
              <a:t>但C与H的连接方式不同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714C21E8-1453-FC71-1210-1C8866A762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1662" y="4997618"/>
            <a:ext cx="5232067" cy="1593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960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795C1-F638-6E18-1B83-BA238B9BE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>
            <a:extLst>
              <a:ext uri="{FF2B5EF4-FFF2-40B4-BE49-F238E27FC236}">
                <a16:creationId xmlns:a16="http://schemas.microsoft.com/office/drawing/2014/main" id="{3BAD1E0D-6AC7-2FDB-4080-74A0B37D9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4679" y="266383"/>
            <a:ext cx="8834437" cy="591241"/>
          </a:xfrm>
        </p:spPr>
        <p:txBody>
          <a:bodyPr>
            <a:normAutofit/>
          </a:bodyPr>
          <a:lstStyle/>
          <a:p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Midterm2</a:t>
            </a:r>
            <a:endParaRPr lang="en-US" altLang="zh-CN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944392A-AB55-7873-50E8-45D9DFC899E8}"/>
              </a:ext>
            </a:extLst>
          </p:cNvPr>
          <p:cNvSpPr txBox="1"/>
          <p:nvPr/>
        </p:nvSpPr>
        <p:spPr bwMode="auto">
          <a:xfrm>
            <a:off x="4681" y="6154457"/>
            <a:ext cx="3332747" cy="565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487582" tIns="91422" rIns="487582" bIns="195033" rtlCol="0">
            <a:spAutoFit/>
          </a:bodyPr>
          <a:lstStyle/>
          <a:p>
            <a:pPr marL="0" marR="0" lvl="0" indent="0" algn="l" defTabSz="1228090" rtl="0" eaLnBrk="1" fontAlgn="auto" latinLnBrk="0" hangingPunct="1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100" normalizeH="0" baseline="0" noProof="0" dirty="0">
              <a:ln>
                <a:noFill/>
              </a:ln>
              <a:solidFill>
                <a:srgbClr val="AE3334"/>
              </a:solidFill>
              <a:effectLst/>
              <a:uLnTx/>
              <a:uFillTx/>
              <a:latin typeface="Arial" panose="020B0604020202020204" pitchFamily="34" charset="0"/>
              <a:ea typeface="Gadugi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313D081-25A0-6AB1-A10C-F7647E141E95}"/>
              </a:ext>
            </a:extLst>
          </p:cNvPr>
          <p:cNvSpPr/>
          <p:nvPr/>
        </p:nvSpPr>
        <p:spPr>
          <a:xfrm>
            <a:off x="7306733" y="5926666"/>
            <a:ext cx="4885267" cy="9313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FD4A011-5E8C-D9F7-E89B-51172F6D1C89}"/>
              </a:ext>
            </a:extLst>
          </p:cNvPr>
          <p:cNvSpPr txBox="1"/>
          <p:nvPr/>
        </p:nvSpPr>
        <p:spPr bwMode="auto">
          <a:xfrm>
            <a:off x="899160" y="943288"/>
            <a:ext cx="10581640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dirty="0"/>
              <a:t>4.(2.0 分)根据 2-氯丙烷、2-氯丙烯、3-氯丙烯分子中的 C-CI键能，回答以下问题，填入表格的对应位置中。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AFD04329-65E8-34B7-B3C8-213A8CFC7D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3352908" y="215541"/>
            <a:ext cx="4874939" cy="8238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0928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7FC16-C5CC-2F4E-007A-4C8A79FAB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>
            <a:extLst>
              <a:ext uri="{FF2B5EF4-FFF2-40B4-BE49-F238E27FC236}">
                <a16:creationId xmlns:a16="http://schemas.microsoft.com/office/drawing/2014/main" id="{54251641-6333-3522-0D78-DC421B819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4679" y="266383"/>
            <a:ext cx="8834437" cy="591241"/>
          </a:xfrm>
        </p:spPr>
        <p:txBody>
          <a:bodyPr>
            <a:normAutofit/>
          </a:bodyPr>
          <a:lstStyle/>
          <a:p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Midterm2</a:t>
            </a:r>
            <a:endParaRPr lang="en-US" altLang="zh-CN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6CB2E8-775C-3510-6518-3A95FEFF1B05}"/>
              </a:ext>
            </a:extLst>
          </p:cNvPr>
          <p:cNvSpPr txBox="1"/>
          <p:nvPr/>
        </p:nvSpPr>
        <p:spPr bwMode="auto">
          <a:xfrm>
            <a:off x="4681" y="6154457"/>
            <a:ext cx="3332747" cy="565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487582" tIns="91422" rIns="487582" bIns="195033" rtlCol="0">
            <a:spAutoFit/>
          </a:bodyPr>
          <a:lstStyle/>
          <a:p>
            <a:pPr marL="0" marR="0" lvl="0" indent="0" algn="l" defTabSz="1228090" rtl="0" eaLnBrk="1" fontAlgn="auto" latinLnBrk="0" hangingPunct="1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100" normalizeH="0" baseline="0" noProof="0" dirty="0">
              <a:ln>
                <a:noFill/>
              </a:ln>
              <a:solidFill>
                <a:srgbClr val="AE3334"/>
              </a:solidFill>
              <a:effectLst/>
              <a:uLnTx/>
              <a:uFillTx/>
              <a:latin typeface="Arial" panose="020B0604020202020204" pitchFamily="34" charset="0"/>
              <a:ea typeface="Gadugi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FAC883E-F04B-2895-9887-27E3A05AC931}"/>
              </a:ext>
            </a:extLst>
          </p:cNvPr>
          <p:cNvSpPr/>
          <p:nvPr/>
        </p:nvSpPr>
        <p:spPr>
          <a:xfrm>
            <a:off x="7306733" y="5926666"/>
            <a:ext cx="4885267" cy="9313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BD5AA792-6AC3-AEAF-DB3C-4E296EE349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650" b="1407"/>
          <a:stretch/>
        </p:blipFill>
        <p:spPr>
          <a:xfrm rot="16200000">
            <a:off x="3149939" y="-708061"/>
            <a:ext cx="5649893" cy="894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946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196A4-D20A-6A4B-E475-5704BABE3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>
            <a:extLst>
              <a:ext uri="{FF2B5EF4-FFF2-40B4-BE49-F238E27FC236}">
                <a16:creationId xmlns:a16="http://schemas.microsoft.com/office/drawing/2014/main" id="{5E3A49FD-361D-91A4-77E8-F28F5BF6E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4679" y="266383"/>
            <a:ext cx="8834437" cy="591241"/>
          </a:xfrm>
        </p:spPr>
        <p:txBody>
          <a:bodyPr>
            <a:normAutofit/>
          </a:bodyPr>
          <a:lstStyle/>
          <a:p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Midterm2</a:t>
            </a:r>
            <a:endParaRPr lang="en-US" altLang="zh-CN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02AE36E-3A56-B221-53B3-021DD16CBD1A}"/>
              </a:ext>
            </a:extLst>
          </p:cNvPr>
          <p:cNvSpPr txBox="1"/>
          <p:nvPr/>
        </p:nvSpPr>
        <p:spPr bwMode="auto">
          <a:xfrm>
            <a:off x="4681" y="6154457"/>
            <a:ext cx="3332747" cy="565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487582" tIns="91422" rIns="487582" bIns="195033" rtlCol="0">
            <a:spAutoFit/>
          </a:bodyPr>
          <a:lstStyle/>
          <a:p>
            <a:pPr marL="0" marR="0" lvl="0" indent="0" algn="l" defTabSz="1228090" rtl="0" eaLnBrk="1" fontAlgn="auto" latinLnBrk="0" hangingPunct="1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100" normalizeH="0" baseline="0" noProof="0" dirty="0">
              <a:ln>
                <a:noFill/>
              </a:ln>
              <a:solidFill>
                <a:srgbClr val="AE3334"/>
              </a:solidFill>
              <a:effectLst/>
              <a:uLnTx/>
              <a:uFillTx/>
              <a:latin typeface="Arial" panose="020B0604020202020204" pitchFamily="34" charset="0"/>
              <a:ea typeface="Gadugi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145FD36-B743-8D05-66B9-ACFA36914C6D}"/>
              </a:ext>
            </a:extLst>
          </p:cNvPr>
          <p:cNvSpPr/>
          <p:nvPr/>
        </p:nvSpPr>
        <p:spPr>
          <a:xfrm>
            <a:off x="7306733" y="5926666"/>
            <a:ext cx="4885267" cy="9313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E055086-CF31-62E3-838B-39EE672413AC}"/>
              </a:ext>
            </a:extLst>
          </p:cNvPr>
          <p:cNvSpPr txBox="1"/>
          <p:nvPr/>
        </p:nvSpPr>
        <p:spPr bwMode="auto">
          <a:xfrm>
            <a:off x="543560" y="1036935"/>
            <a:ext cx="11308080" cy="13849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dirty="0"/>
              <a:t>5.(2.3分)二氟化氙 XeF2是一个稳定的惰性气体化合物，</a:t>
            </a:r>
            <a:r>
              <a:rPr lang="zh-CN" altLang="en-US" sz="2800" dirty="0">
                <a:solidFill>
                  <a:srgbClr val="FF0000"/>
                </a:solidFill>
              </a:rPr>
              <a:t>具有直线型的结构</a:t>
            </a:r>
            <a:r>
              <a:rPr lang="zh-CN" altLang="en-US" sz="2800" dirty="0"/>
              <a:t>，可用于氟化反应和硅片表面刻蚀。下面用</a:t>
            </a:r>
            <a:r>
              <a:rPr lang="zh-CN" altLang="en-US" sz="2800" dirty="0">
                <a:solidFill>
                  <a:srgbClr val="FF0000"/>
                </a:solidFill>
              </a:rPr>
              <a:t>分子轨道理论和 Lewis 结构分析XeF2</a:t>
            </a:r>
            <a:r>
              <a:rPr lang="zh-CN" altLang="en-US" sz="2800" dirty="0"/>
              <a:t>的成键情况。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E91D0E3-941D-1D2A-5E38-713971E9265D}"/>
              </a:ext>
            </a:extLst>
          </p:cNvPr>
          <p:cNvSpPr txBox="1"/>
          <p:nvPr/>
        </p:nvSpPr>
        <p:spPr bwMode="auto">
          <a:xfrm>
            <a:off x="543560" y="2601241"/>
            <a:ext cx="11120120" cy="13849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dirty="0"/>
              <a:t>(0.2分x3)(a)Xe 的价层 </a:t>
            </a:r>
            <a:r>
              <a:rPr lang="zh-CN" altLang="en-US" sz="2800" dirty="0">
                <a:solidFill>
                  <a:srgbClr val="FF0000"/>
                </a:solidFill>
              </a:rPr>
              <a:t>5p</a:t>
            </a:r>
            <a:r>
              <a:rPr lang="zh-CN" altLang="en-US" sz="2800" dirty="0"/>
              <a:t> 轨道能量与F的价层</a:t>
            </a:r>
            <a:r>
              <a:rPr lang="zh-CN" altLang="en-US" sz="2800" dirty="0">
                <a:solidFill>
                  <a:srgbClr val="FF0000"/>
                </a:solidFill>
              </a:rPr>
              <a:t> 2p </a:t>
            </a:r>
            <a:r>
              <a:rPr lang="zh-CN" altLang="en-US" sz="2800" dirty="0"/>
              <a:t>轨道能量接近，而其它原子轨道能量很低且已完全充满，因此</a:t>
            </a:r>
            <a:r>
              <a:rPr lang="zh-CN" altLang="en-US" sz="2800" dirty="0">
                <a:solidFill>
                  <a:srgbClr val="FF0000"/>
                </a:solidFill>
              </a:rPr>
              <a:t>仅考虑Xe5p与F2p线性组合</a:t>
            </a:r>
            <a:r>
              <a:rPr lang="zh-CN" altLang="en-US" sz="2800" dirty="0"/>
              <a:t>形成分子轨道。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5D65C37-844A-7A3C-EECD-D10E3A6C9311}"/>
              </a:ext>
            </a:extLst>
          </p:cNvPr>
          <p:cNvSpPr txBox="1"/>
          <p:nvPr/>
        </p:nvSpPr>
        <p:spPr bwMode="auto">
          <a:xfrm>
            <a:off x="543560" y="4165547"/>
            <a:ext cx="11120120" cy="15696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3200" dirty="0"/>
              <a:t>问题:XeF2分子中共有</a:t>
            </a:r>
            <a:r>
              <a:rPr lang="zh-CN" altLang="en-US" sz="3200" dirty="0">
                <a:solidFill>
                  <a:srgbClr val="FF0000"/>
                </a:solidFill>
              </a:rPr>
              <a:t>9个（</a:t>
            </a:r>
            <a:r>
              <a:rPr lang="en-US" altLang="zh-CN" sz="3200" dirty="0">
                <a:solidFill>
                  <a:srgbClr val="FF0000"/>
                </a:solidFill>
              </a:rPr>
              <a:t>5+2+2</a:t>
            </a:r>
            <a:r>
              <a:rPr lang="zh-CN" altLang="en-US" sz="3200" dirty="0">
                <a:solidFill>
                  <a:srgbClr val="FF0000"/>
                </a:solidFill>
              </a:rPr>
              <a:t>）</a:t>
            </a:r>
            <a:r>
              <a:rPr lang="zh-CN" altLang="en-US" sz="3200" dirty="0"/>
              <a:t>价层p原子轨道，其中共填充了</a:t>
            </a:r>
            <a:r>
              <a:rPr lang="zh-CN" altLang="en-US" sz="3200" dirty="0">
                <a:solidFill>
                  <a:srgbClr val="FF0000"/>
                </a:solidFill>
              </a:rPr>
              <a:t>16个（</a:t>
            </a:r>
            <a:r>
              <a:rPr lang="en-US" altLang="zh-CN" sz="3200" dirty="0">
                <a:solidFill>
                  <a:srgbClr val="FF0000"/>
                </a:solidFill>
              </a:rPr>
              <a:t>2</a:t>
            </a:r>
            <a:r>
              <a:rPr lang="zh-CN" altLang="en-US" sz="3200" dirty="0">
                <a:solidFill>
                  <a:srgbClr val="FF0000"/>
                </a:solidFill>
              </a:rPr>
              <a:t>*</a:t>
            </a:r>
            <a:r>
              <a:rPr lang="en-US" altLang="zh-CN" sz="3200" dirty="0">
                <a:solidFill>
                  <a:srgbClr val="FF0000"/>
                </a:solidFill>
              </a:rPr>
              <a:t>9-2</a:t>
            </a:r>
            <a:r>
              <a:rPr lang="zh-CN" altLang="en-US" sz="3200" dirty="0">
                <a:solidFill>
                  <a:srgbClr val="FF0000"/>
                </a:solidFill>
              </a:rPr>
              <a:t>）</a:t>
            </a:r>
            <a:r>
              <a:rPr lang="zh-CN" altLang="en-US" sz="3200" dirty="0"/>
              <a:t>电子，离充满所有价层轨道还缺少</a:t>
            </a:r>
            <a:r>
              <a:rPr lang="zh-CN" altLang="en-US" sz="3200" dirty="0">
                <a:solidFill>
                  <a:srgbClr val="FF0000"/>
                </a:solidFill>
              </a:rPr>
              <a:t>2个（</a:t>
            </a:r>
            <a:r>
              <a:rPr lang="en-US" altLang="zh-CN" sz="3200" dirty="0">
                <a:solidFill>
                  <a:srgbClr val="FF0000"/>
                </a:solidFill>
              </a:rPr>
              <a:t>2</a:t>
            </a:r>
            <a:r>
              <a:rPr lang="zh-CN" altLang="en-US" sz="3200" dirty="0">
                <a:solidFill>
                  <a:srgbClr val="FF0000"/>
                </a:solidFill>
              </a:rPr>
              <a:t>个</a:t>
            </a:r>
            <a:r>
              <a:rPr lang="en-US" altLang="zh-CN" sz="3200" dirty="0">
                <a:solidFill>
                  <a:srgbClr val="FF0000"/>
                </a:solidFill>
              </a:rPr>
              <a:t>F</a:t>
            </a:r>
            <a:r>
              <a:rPr lang="en-US" altLang="zh-CN" sz="3200" baseline="30000" dirty="0">
                <a:solidFill>
                  <a:srgbClr val="FF0000"/>
                </a:solidFill>
              </a:rPr>
              <a:t>-</a:t>
            </a:r>
            <a:r>
              <a:rPr lang="zh-CN" altLang="en-US" sz="3200" dirty="0">
                <a:solidFill>
                  <a:srgbClr val="FF0000"/>
                </a:solidFill>
              </a:rPr>
              <a:t>）</a:t>
            </a:r>
            <a:r>
              <a:rPr lang="zh-CN" altLang="en-US" sz="3200" dirty="0"/>
              <a:t>电子。</a:t>
            </a:r>
          </a:p>
        </p:txBody>
      </p:sp>
    </p:spTree>
    <p:extLst>
      <p:ext uri="{BB962C8B-B14F-4D97-AF65-F5344CB8AC3E}">
        <p14:creationId xmlns:p14="http://schemas.microsoft.com/office/powerpoint/2010/main" val="874872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  <p:bldP spid="1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9A10B-E28E-0731-F076-56A4F2B89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>
            <a:extLst>
              <a:ext uri="{FF2B5EF4-FFF2-40B4-BE49-F238E27FC236}">
                <a16:creationId xmlns:a16="http://schemas.microsoft.com/office/drawing/2014/main" id="{05F614FE-5F64-913E-DF01-403F3DBC3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4679" y="266383"/>
            <a:ext cx="8834437" cy="591241"/>
          </a:xfrm>
        </p:spPr>
        <p:txBody>
          <a:bodyPr>
            <a:normAutofit/>
          </a:bodyPr>
          <a:lstStyle/>
          <a:p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Midterm2</a:t>
            </a:r>
            <a:endParaRPr lang="en-US" altLang="zh-CN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0B1FCDD-CED9-F10C-C12B-22E620676C4E}"/>
              </a:ext>
            </a:extLst>
          </p:cNvPr>
          <p:cNvSpPr txBox="1"/>
          <p:nvPr/>
        </p:nvSpPr>
        <p:spPr bwMode="auto">
          <a:xfrm>
            <a:off x="4681" y="6154457"/>
            <a:ext cx="3332747" cy="565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487582" tIns="91422" rIns="487582" bIns="195033" rtlCol="0">
            <a:spAutoFit/>
          </a:bodyPr>
          <a:lstStyle/>
          <a:p>
            <a:pPr marL="0" marR="0" lvl="0" indent="0" algn="l" defTabSz="1228090" rtl="0" eaLnBrk="1" fontAlgn="auto" latinLnBrk="0" hangingPunct="1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100" normalizeH="0" baseline="0" noProof="0" dirty="0">
              <a:ln>
                <a:noFill/>
              </a:ln>
              <a:solidFill>
                <a:srgbClr val="AE3334"/>
              </a:solidFill>
              <a:effectLst/>
              <a:uLnTx/>
              <a:uFillTx/>
              <a:latin typeface="Arial" panose="020B0604020202020204" pitchFamily="34" charset="0"/>
              <a:ea typeface="Gadugi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39AF32A-EE8E-A561-7FCA-CD661EA5C682}"/>
              </a:ext>
            </a:extLst>
          </p:cNvPr>
          <p:cNvSpPr/>
          <p:nvPr/>
        </p:nvSpPr>
        <p:spPr>
          <a:xfrm>
            <a:off x="7306733" y="5926666"/>
            <a:ext cx="4885267" cy="9313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6630AB8-8595-9648-331A-E71B1FC554F1}"/>
              </a:ext>
            </a:extLst>
          </p:cNvPr>
          <p:cNvSpPr txBox="1"/>
          <p:nvPr/>
        </p:nvSpPr>
        <p:spPr bwMode="auto">
          <a:xfrm>
            <a:off x="817033" y="1243042"/>
            <a:ext cx="6104466" cy="480131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>
              <a:buFont typeface="+mj-lt"/>
              <a:buAutoNum type="arabicPeriod"/>
            </a:pPr>
            <a:r>
              <a:rPr lang="zh-CN" altLang="en-US" b="1" i="0" dirty="0">
                <a:effectLst/>
                <a:latin typeface="-apple-system"/>
              </a:rPr>
              <a:t>成键轨道（</a:t>
            </a:r>
            <a:r>
              <a:rPr lang="en-US" altLang="zh-CN" b="1" i="0" dirty="0">
                <a:effectLst/>
                <a:latin typeface="-apple-system"/>
              </a:rPr>
              <a:t>σ</a:t>
            </a:r>
            <a:r>
              <a:rPr lang="zh-CN" altLang="en-US" b="1" i="0" dirty="0">
                <a:effectLst/>
                <a:latin typeface="-apple-system"/>
              </a:rPr>
              <a:t>）：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CN" altLang="en-US" b="1" i="0" dirty="0">
                <a:effectLst/>
                <a:latin typeface="-apple-system"/>
              </a:rPr>
              <a:t>这种组合是三个</a:t>
            </a:r>
            <a:r>
              <a:rPr lang="en-US" altLang="zh-CN" b="1" i="0" dirty="0" err="1">
                <a:effectLst/>
                <a:latin typeface="-apple-system"/>
              </a:rPr>
              <a:t>pz</a:t>
            </a:r>
            <a:r>
              <a:rPr lang="zh-CN" altLang="en-US" b="1" i="0" dirty="0">
                <a:effectLst/>
                <a:latin typeface="-apple-system"/>
              </a:rPr>
              <a:t>轨道中所有轨道的相位一致同向的相加结果。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CN" altLang="en-US" b="1" i="0" dirty="0">
                <a:effectLst/>
                <a:latin typeface="-apple-system"/>
              </a:rPr>
              <a:t>在这种情况下，形成一个位于</a:t>
            </a:r>
            <a:r>
              <a:rPr lang="en-US" altLang="zh-CN" b="1" i="0" dirty="0">
                <a:effectLst/>
                <a:latin typeface="-apple-system"/>
              </a:rPr>
              <a:t>Xe</a:t>
            </a:r>
            <a:r>
              <a:rPr lang="zh-CN" altLang="en-US" b="1" i="0" dirty="0">
                <a:effectLst/>
                <a:latin typeface="-apple-system"/>
              </a:rPr>
              <a:t>和</a:t>
            </a:r>
            <a:r>
              <a:rPr lang="en-US" altLang="zh-CN" b="1" i="0" dirty="0">
                <a:effectLst/>
                <a:latin typeface="-apple-system"/>
              </a:rPr>
              <a:t>F</a:t>
            </a:r>
            <a:r>
              <a:rPr lang="zh-CN" altLang="en-US" b="1" i="0" dirty="0">
                <a:effectLst/>
                <a:latin typeface="-apple-system"/>
              </a:rPr>
              <a:t>之间电子密度增加的成键轨道。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CN" altLang="en-US" b="1" i="0" dirty="0">
                <a:effectLst/>
                <a:latin typeface="-apple-system"/>
              </a:rPr>
              <a:t>能量最低。</a:t>
            </a:r>
          </a:p>
          <a:p>
            <a:pPr algn="l">
              <a:buFont typeface="+mj-lt"/>
              <a:buAutoNum type="arabicPeriod"/>
            </a:pPr>
            <a:r>
              <a:rPr lang="zh-CN" altLang="en-US" b="1" i="0" dirty="0">
                <a:effectLst/>
                <a:latin typeface="-apple-system"/>
              </a:rPr>
              <a:t>非键轨道（</a:t>
            </a:r>
            <a:r>
              <a:rPr lang="en-US" altLang="zh-CN" b="1" i="0" dirty="0">
                <a:effectLst/>
                <a:latin typeface="-apple-system"/>
              </a:rPr>
              <a:t>n/π</a:t>
            </a:r>
            <a:r>
              <a:rPr lang="zh-CN" altLang="en-US" b="1" i="0" dirty="0">
                <a:effectLst/>
                <a:latin typeface="-apple-system"/>
              </a:rPr>
              <a:t>）：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CN" altLang="en-US" b="1" i="0" dirty="0">
                <a:effectLst/>
                <a:latin typeface="-apple-system"/>
              </a:rPr>
              <a:t>如果存在此类轨道，则表现为两个</a:t>
            </a:r>
            <a:r>
              <a:rPr lang="en-US" altLang="zh-CN" b="1" i="0" dirty="0">
                <a:effectLst/>
                <a:latin typeface="-apple-system"/>
              </a:rPr>
              <a:t>F</a:t>
            </a:r>
            <a:r>
              <a:rPr lang="zh-CN" altLang="en-US" b="1" i="0" dirty="0">
                <a:effectLst/>
                <a:latin typeface="-apple-system"/>
              </a:rPr>
              <a:t>的</a:t>
            </a:r>
            <a:r>
              <a:rPr lang="en-US" altLang="zh-CN" b="1" i="0" dirty="0" err="1">
                <a:effectLst/>
                <a:latin typeface="-apple-system"/>
              </a:rPr>
              <a:t>pz</a:t>
            </a:r>
            <a:r>
              <a:rPr lang="zh-CN" altLang="en-US" b="1" i="0" dirty="0">
                <a:effectLst/>
                <a:latin typeface="-apple-system"/>
              </a:rPr>
              <a:t>轨道相位相反且与中心</a:t>
            </a:r>
            <a:r>
              <a:rPr lang="en-US" altLang="zh-CN" b="1" i="0" dirty="0">
                <a:effectLst/>
                <a:latin typeface="-apple-system"/>
              </a:rPr>
              <a:t>Xe</a:t>
            </a:r>
            <a:r>
              <a:rPr lang="zh-CN" altLang="en-US" b="1" i="0" dirty="0">
                <a:effectLst/>
                <a:latin typeface="-apple-system"/>
              </a:rPr>
              <a:t>的</a:t>
            </a:r>
            <a:r>
              <a:rPr lang="en-US" altLang="zh-CN" b="1" i="0" dirty="0" err="1">
                <a:effectLst/>
                <a:latin typeface="-apple-system"/>
              </a:rPr>
              <a:t>pz</a:t>
            </a:r>
            <a:r>
              <a:rPr lang="zh-CN" altLang="en-US" b="1" i="0" dirty="0">
                <a:effectLst/>
                <a:latin typeface="-apple-system"/>
              </a:rPr>
              <a:t>轨道相位相同或不参与直接的键合行为。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CN" altLang="en-US" b="1" i="0" dirty="0">
                <a:effectLst/>
                <a:latin typeface="-apple-system"/>
              </a:rPr>
              <a:t>由于相位的抵消作用，此轨道通常不影响键合性质，可能在能量上介于成键和反键轨道之间。</a:t>
            </a:r>
          </a:p>
          <a:p>
            <a:pPr algn="l">
              <a:buFont typeface="+mj-lt"/>
              <a:buAutoNum type="arabicPeriod"/>
            </a:pPr>
            <a:r>
              <a:rPr lang="zh-CN" altLang="en-US" b="1" i="1" dirty="0">
                <a:effectLst/>
                <a:latin typeface="-apple-system"/>
              </a:rPr>
              <a:t>反键轨道（</a:t>
            </a:r>
            <a:r>
              <a:rPr lang="en-US" altLang="zh-CN" b="1" i="1" dirty="0">
                <a:effectLst/>
                <a:latin typeface="-apple-system"/>
              </a:rPr>
              <a:t>σ</a:t>
            </a:r>
            <a:r>
              <a:rPr lang="zh-CN" altLang="en-US" b="1" i="1" dirty="0">
                <a:effectLst/>
                <a:latin typeface="-apple-system"/>
              </a:rPr>
              <a:t>）</a:t>
            </a:r>
            <a:r>
              <a:rPr lang="zh-CN" altLang="en-US" b="1" i="0" dirty="0">
                <a:effectLst/>
                <a:latin typeface="-apple-system"/>
              </a:rPr>
              <a:t>*：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CN" altLang="en-US" b="1" i="0" dirty="0">
                <a:effectLst/>
                <a:latin typeface="-apple-system"/>
              </a:rPr>
              <a:t>这种组合表现为</a:t>
            </a:r>
            <a:r>
              <a:rPr lang="en-US" altLang="zh-CN" b="1" i="0" dirty="0">
                <a:effectLst/>
                <a:latin typeface="-apple-system"/>
              </a:rPr>
              <a:t>Xe</a:t>
            </a:r>
            <a:r>
              <a:rPr lang="zh-CN" altLang="en-US" b="1" i="0" dirty="0">
                <a:effectLst/>
                <a:latin typeface="-apple-system"/>
              </a:rPr>
              <a:t>的</a:t>
            </a:r>
            <a:r>
              <a:rPr lang="en-US" altLang="zh-CN" b="1" i="0" dirty="0" err="1">
                <a:effectLst/>
                <a:latin typeface="-apple-system"/>
              </a:rPr>
              <a:t>pz</a:t>
            </a:r>
            <a:r>
              <a:rPr lang="zh-CN" altLang="en-US" b="1" i="0" dirty="0">
                <a:effectLst/>
                <a:latin typeface="-apple-system"/>
              </a:rPr>
              <a:t>轨道与两个</a:t>
            </a:r>
            <a:r>
              <a:rPr lang="en-US" altLang="zh-CN" b="1" i="0" dirty="0">
                <a:effectLst/>
                <a:latin typeface="-apple-system"/>
              </a:rPr>
              <a:t>F</a:t>
            </a:r>
            <a:r>
              <a:rPr lang="zh-CN" altLang="en-US" b="1" i="0" dirty="0">
                <a:effectLst/>
                <a:latin typeface="-apple-system"/>
              </a:rPr>
              <a:t>的</a:t>
            </a:r>
            <a:r>
              <a:rPr lang="en-US" altLang="zh-CN" b="1" i="0" dirty="0" err="1">
                <a:effectLst/>
                <a:latin typeface="-apple-system"/>
              </a:rPr>
              <a:t>pz</a:t>
            </a:r>
            <a:r>
              <a:rPr lang="zh-CN" altLang="en-US" b="1" i="0" dirty="0">
                <a:effectLst/>
                <a:latin typeface="-apple-system"/>
              </a:rPr>
              <a:t>轨道相位都相反。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CN" altLang="en-US" b="1" i="0" dirty="0">
                <a:effectLst/>
                <a:latin typeface="-apple-system"/>
              </a:rPr>
              <a:t>电子密度较高的区域远离</a:t>
            </a:r>
            <a:r>
              <a:rPr lang="en-US" altLang="zh-CN" b="1" i="0" dirty="0">
                <a:effectLst/>
                <a:latin typeface="-apple-system"/>
              </a:rPr>
              <a:t>Xe</a:t>
            </a:r>
            <a:r>
              <a:rPr lang="zh-CN" altLang="en-US" b="1" i="0" dirty="0">
                <a:effectLst/>
                <a:latin typeface="-apple-system"/>
              </a:rPr>
              <a:t>和</a:t>
            </a:r>
            <a:r>
              <a:rPr lang="en-US" altLang="zh-CN" b="1" i="0" dirty="0">
                <a:effectLst/>
                <a:latin typeface="-apple-system"/>
              </a:rPr>
              <a:t>F</a:t>
            </a:r>
            <a:r>
              <a:rPr lang="zh-CN" altLang="en-US" b="1" i="0" dirty="0">
                <a:effectLst/>
                <a:latin typeface="-apple-system"/>
              </a:rPr>
              <a:t>之间的区域。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CN" altLang="en-US" b="1" i="0" dirty="0">
                <a:effectLst/>
                <a:latin typeface="-apple-system"/>
              </a:rPr>
              <a:t>能量最高。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9A3286B-3732-61FF-4F31-0385B8E77631}"/>
              </a:ext>
            </a:extLst>
          </p:cNvPr>
          <p:cNvSpPr txBox="1"/>
          <p:nvPr/>
        </p:nvSpPr>
        <p:spPr bwMode="auto">
          <a:xfrm>
            <a:off x="7495116" y="2628036"/>
            <a:ext cx="4508500" cy="147732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zh-CN" altLang="en-US" b="1" i="0" dirty="0">
                <a:effectLst/>
                <a:latin typeface="-apple-system"/>
              </a:rPr>
              <a:t>填充了电子的分子轨道主要是</a:t>
            </a:r>
            <a:r>
              <a:rPr lang="zh-CN" altLang="en-US" b="1" i="0" dirty="0">
                <a:solidFill>
                  <a:srgbClr val="FF0000"/>
                </a:solidFill>
                <a:effectLst/>
                <a:latin typeface="-apple-system"/>
              </a:rPr>
              <a:t>成键</a:t>
            </a:r>
            <a:r>
              <a:rPr lang="en-US" altLang="zh-CN" b="1" i="0" dirty="0">
                <a:solidFill>
                  <a:srgbClr val="FF0000"/>
                </a:solidFill>
                <a:effectLst/>
                <a:latin typeface="-apple-system"/>
              </a:rPr>
              <a:t>σ</a:t>
            </a:r>
            <a:r>
              <a:rPr lang="zh-CN" altLang="en-US" b="1" i="0" dirty="0">
                <a:solidFill>
                  <a:srgbClr val="FF0000"/>
                </a:solidFill>
                <a:effectLst/>
                <a:latin typeface="-apple-system"/>
              </a:rPr>
              <a:t>轨道</a:t>
            </a:r>
            <a:r>
              <a:rPr lang="zh-CN" altLang="en-US" b="1" i="0" dirty="0">
                <a:effectLst/>
                <a:latin typeface="-apple-system"/>
              </a:rPr>
              <a:t>，以及可能包括任何存在的非键轨道。结合已知的电子数来分析，</a:t>
            </a:r>
            <a:r>
              <a:rPr lang="en-US" altLang="zh-CN" b="1" i="0" dirty="0" err="1">
                <a:effectLst/>
                <a:latin typeface="-apple-system"/>
              </a:rPr>
              <a:t>XeF</a:t>
            </a:r>
            <a:r>
              <a:rPr lang="en-US" altLang="zh-CN" b="1" i="0" dirty="0">
                <a:effectLst/>
                <a:latin typeface="-apple-system"/>
              </a:rPr>
              <a:t>₂</a:t>
            </a:r>
            <a:r>
              <a:rPr lang="zh-CN" altLang="en-US" b="1" i="0" dirty="0">
                <a:effectLst/>
                <a:latin typeface="-apple-system"/>
              </a:rPr>
              <a:t>的价电子总数为</a:t>
            </a:r>
            <a:r>
              <a:rPr lang="en-US" altLang="zh-CN" b="1" i="0" dirty="0">
                <a:solidFill>
                  <a:srgbClr val="FF0000"/>
                </a:solidFill>
                <a:effectLst/>
                <a:latin typeface="-apple-system"/>
              </a:rPr>
              <a:t>22</a:t>
            </a:r>
            <a:r>
              <a:rPr lang="zh-CN" altLang="en-US" b="1" i="0" dirty="0">
                <a:solidFill>
                  <a:srgbClr val="FF0000"/>
                </a:solidFill>
                <a:effectLst/>
                <a:latin typeface="-apple-system"/>
              </a:rPr>
              <a:t>个</a:t>
            </a:r>
            <a:r>
              <a:rPr lang="zh-CN" altLang="en-US" b="1" i="0" dirty="0">
                <a:effectLst/>
                <a:latin typeface="-apple-system"/>
              </a:rPr>
              <a:t>，其中有</a:t>
            </a:r>
            <a:r>
              <a:rPr lang="en-US" altLang="zh-CN" b="1" i="0" dirty="0">
                <a:solidFill>
                  <a:srgbClr val="FF0000"/>
                </a:solidFill>
                <a:effectLst/>
                <a:latin typeface="-apple-system"/>
              </a:rPr>
              <a:t>16</a:t>
            </a:r>
            <a:r>
              <a:rPr lang="zh-CN" altLang="en-US" b="1" i="0" dirty="0">
                <a:solidFill>
                  <a:srgbClr val="FF0000"/>
                </a:solidFill>
                <a:effectLst/>
                <a:latin typeface="-apple-system"/>
              </a:rPr>
              <a:t>个电子填充在成键和非键轨道（若有）上</a:t>
            </a:r>
            <a:r>
              <a:rPr lang="zh-CN" altLang="en-US" b="1" i="0" dirty="0">
                <a:effectLst/>
                <a:latin typeface="-apple-system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5384692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F1E8C-2999-72E3-D932-60AD0F848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>
            <a:extLst>
              <a:ext uri="{FF2B5EF4-FFF2-40B4-BE49-F238E27FC236}">
                <a16:creationId xmlns:a16="http://schemas.microsoft.com/office/drawing/2014/main" id="{007115AD-B084-E6C4-EC8A-34748C534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4679" y="266383"/>
            <a:ext cx="8834437" cy="591241"/>
          </a:xfrm>
        </p:spPr>
        <p:txBody>
          <a:bodyPr>
            <a:normAutofit/>
          </a:bodyPr>
          <a:lstStyle/>
          <a:p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Midterm2</a:t>
            </a:r>
            <a:endParaRPr lang="en-US" altLang="zh-CN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94C4E42-17F2-06D1-3C30-748FEC7758C2}"/>
              </a:ext>
            </a:extLst>
          </p:cNvPr>
          <p:cNvSpPr txBox="1"/>
          <p:nvPr/>
        </p:nvSpPr>
        <p:spPr bwMode="auto">
          <a:xfrm>
            <a:off x="4681" y="6154457"/>
            <a:ext cx="3332747" cy="565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487582" tIns="91422" rIns="487582" bIns="195033" rtlCol="0">
            <a:spAutoFit/>
          </a:bodyPr>
          <a:lstStyle/>
          <a:p>
            <a:pPr marL="0" marR="0" lvl="0" indent="0" algn="l" defTabSz="1228090" rtl="0" eaLnBrk="1" fontAlgn="auto" latinLnBrk="0" hangingPunct="1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100" normalizeH="0" baseline="0" noProof="0" dirty="0">
              <a:ln>
                <a:noFill/>
              </a:ln>
              <a:solidFill>
                <a:srgbClr val="AE3334"/>
              </a:solidFill>
              <a:effectLst/>
              <a:uLnTx/>
              <a:uFillTx/>
              <a:latin typeface="Arial" panose="020B0604020202020204" pitchFamily="34" charset="0"/>
              <a:ea typeface="Gadugi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04D09F9-9208-3391-2979-E3795279D0C5}"/>
              </a:ext>
            </a:extLst>
          </p:cNvPr>
          <p:cNvSpPr/>
          <p:nvPr/>
        </p:nvSpPr>
        <p:spPr>
          <a:xfrm>
            <a:off x="7306733" y="5926666"/>
            <a:ext cx="4885267" cy="9313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DA9F45-BBE3-5C05-AC4A-F28961FBA3ED}"/>
              </a:ext>
            </a:extLst>
          </p:cNvPr>
          <p:cNvSpPr txBox="1"/>
          <p:nvPr/>
        </p:nvSpPr>
        <p:spPr bwMode="auto">
          <a:xfrm>
            <a:off x="868680" y="979716"/>
            <a:ext cx="10855960" cy="181588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dirty="0"/>
              <a:t>(b)理论计算表明，未充满的价层原子轨道是沿着 F-Xe-F 键轴的 pz轨道。在下图中，以黑点为原子位置，按照能量</a:t>
            </a:r>
            <a:r>
              <a:rPr lang="zh-CN" altLang="en-US" sz="2800" dirty="0">
                <a:solidFill>
                  <a:srgbClr val="FF0000"/>
                </a:solidFill>
              </a:rPr>
              <a:t>由底往高</a:t>
            </a:r>
            <a:r>
              <a:rPr lang="zh-CN" altLang="en-US" sz="2800" dirty="0"/>
              <a:t>的顺序画出Xe</a:t>
            </a:r>
            <a:r>
              <a:rPr lang="zh-CN" altLang="en-US" sz="2800" dirty="0">
                <a:solidFill>
                  <a:srgbClr val="FF0000"/>
                </a:solidFill>
              </a:rPr>
              <a:t>5pz轨道</a:t>
            </a:r>
            <a:r>
              <a:rPr lang="zh-CN" altLang="en-US" sz="2800" dirty="0"/>
              <a:t>与2个F</a:t>
            </a:r>
            <a:r>
              <a:rPr lang="zh-CN" altLang="en-US" sz="2800" dirty="0">
                <a:solidFill>
                  <a:srgbClr val="FF0000"/>
                </a:solidFill>
              </a:rPr>
              <a:t>2pz轨道</a:t>
            </a:r>
            <a:r>
              <a:rPr lang="zh-CN" altLang="en-US" sz="2800" dirty="0"/>
              <a:t>之间的</a:t>
            </a:r>
            <a:r>
              <a:rPr lang="zh-CN" altLang="en-US" sz="2800" dirty="0">
                <a:solidFill>
                  <a:srgbClr val="FF0000"/>
                </a:solidFill>
              </a:rPr>
              <a:t>3种线性组合方式</a:t>
            </a:r>
            <a:r>
              <a:rPr lang="zh-CN" altLang="en-US" sz="2800" dirty="0"/>
              <a:t>，用正负号标明轨道的相位:(0.8分)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C27C284D-FC55-67E4-6F98-6452DC663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7132" y="2702121"/>
            <a:ext cx="4373603" cy="251343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96B28EE0-4FA1-6E9C-D137-8F74DD2E2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5720" y="2702121"/>
            <a:ext cx="3877076" cy="2420495"/>
          </a:xfrm>
          <a:prstGeom prst="rect">
            <a:avLst/>
          </a:prstGeom>
        </p:spPr>
      </p:pic>
      <p:sp>
        <p:nvSpPr>
          <p:cNvPr id="11" name="箭头: 右 10">
            <a:extLst>
              <a:ext uri="{FF2B5EF4-FFF2-40B4-BE49-F238E27FC236}">
                <a16:creationId xmlns:a16="http://schemas.microsoft.com/office/drawing/2014/main" id="{E13E649A-718F-9270-EE95-8DDF1E2FC6EC}"/>
              </a:ext>
            </a:extLst>
          </p:cNvPr>
          <p:cNvSpPr/>
          <p:nvPr/>
        </p:nvSpPr>
        <p:spPr>
          <a:xfrm>
            <a:off x="5547360" y="3749040"/>
            <a:ext cx="1097280" cy="447040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5894AFB-4A91-39E7-15E6-8E90AED8BD60}"/>
              </a:ext>
            </a:extLst>
          </p:cNvPr>
          <p:cNvSpPr txBox="1"/>
          <p:nvPr/>
        </p:nvSpPr>
        <p:spPr bwMode="auto">
          <a:xfrm>
            <a:off x="1315720" y="5416619"/>
            <a:ext cx="9514840" cy="13849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dirty="0"/>
              <a:t>(第1个</a:t>
            </a:r>
            <a:r>
              <a:rPr lang="zh-CN" altLang="en-US" sz="2800" dirty="0">
                <a:solidFill>
                  <a:srgbClr val="FF0000"/>
                </a:solidFill>
              </a:rPr>
              <a:t>成键轨道可以画成轨道相连的形状</a:t>
            </a:r>
            <a:r>
              <a:rPr lang="zh-CN" altLang="en-US" sz="2800" dirty="0"/>
              <a:t>)</a:t>
            </a:r>
            <a:endParaRPr lang="en-US" altLang="zh-CN" sz="2800" dirty="0"/>
          </a:p>
          <a:p>
            <a:r>
              <a:rPr lang="zh-CN" altLang="en-US" sz="2800" dirty="0"/>
              <a:t>这3个分子轨道中填充了电子的分子轨道是:(0.4分)</a:t>
            </a:r>
            <a:r>
              <a:rPr lang="zh-CN" altLang="en-US" sz="2800" dirty="0">
                <a:solidFill>
                  <a:srgbClr val="FF0000"/>
                </a:solidFill>
              </a:rPr>
              <a:t>1和2</a:t>
            </a:r>
            <a:r>
              <a:rPr lang="zh-CN" altLang="en-US" sz="2800" dirty="0"/>
              <a:t>。(在空白处填序号1，2或3)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57EC38A-8B3F-0DBE-0F70-AB1D6B42D37C}"/>
              </a:ext>
            </a:extLst>
          </p:cNvPr>
          <p:cNvSpPr/>
          <p:nvPr/>
        </p:nvSpPr>
        <p:spPr>
          <a:xfrm>
            <a:off x="2336800" y="4776902"/>
            <a:ext cx="2243667" cy="3457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A02594C-8B33-246F-6395-FE27CD11B80C}"/>
              </a:ext>
            </a:extLst>
          </p:cNvPr>
          <p:cNvSpPr/>
          <p:nvPr/>
        </p:nvSpPr>
        <p:spPr>
          <a:xfrm rot="16200000">
            <a:off x="592721" y="3532250"/>
            <a:ext cx="2243667" cy="7703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1783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  <p:bldP spid="13" grpId="0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123C5-1AA7-CFAE-A77A-F94AB20E3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>
            <a:extLst>
              <a:ext uri="{FF2B5EF4-FFF2-40B4-BE49-F238E27FC236}">
                <a16:creationId xmlns:a16="http://schemas.microsoft.com/office/drawing/2014/main" id="{54F9DE45-54C4-982E-1027-826D1314D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4679" y="266383"/>
            <a:ext cx="8834437" cy="591241"/>
          </a:xfrm>
        </p:spPr>
        <p:txBody>
          <a:bodyPr>
            <a:normAutofit/>
          </a:bodyPr>
          <a:lstStyle/>
          <a:p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Midterm2</a:t>
            </a:r>
            <a:endParaRPr lang="en-US" altLang="zh-CN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EEB2398-36FA-D3FE-8AA9-8FA7C6903D88}"/>
              </a:ext>
            </a:extLst>
          </p:cNvPr>
          <p:cNvSpPr txBox="1"/>
          <p:nvPr/>
        </p:nvSpPr>
        <p:spPr bwMode="auto">
          <a:xfrm>
            <a:off x="4681" y="6154457"/>
            <a:ext cx="3332747" cy="565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487582" tIns="91422" rIns="487582" bIns="195033" rtlCol="0">
            <a:spAutoFit/>
          </a:bodyPr>
          <a:lstStyle/>
          <a:p>
            <a:pPr marL="0" marR="0" lvl="0" indent="0" algn="l" defTabSz="1228090" rtl="0" eaLnBrk="1" fontAlgn="auto" latinLnBrk="0" hangingPunct="1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100" normalizeH="0" baseline="0" noProof="0" dirty="0">
              <a:ln>
                <a:noFill/>
              </a:ln>
              <a:solidFill>
                <a:srgbClr val="AE3334"/>
              </a:solidFill>
              <a:effectLst/>
              <a:uLnTx/>
              <a:uFillTx/>
              <a:latin typeface="Arial" panose="020B0604020202020204" pitchFamily="34" charset="0"/>
              <a:ea typeface="Gadugi" panose="020B0502040204020203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6E89F00-581C-B8BB-C6B1-BD3FE431488F}"/>
              </a:ext>
            </a:extLst>
          </p:cNvPr>
          <p:cNvSpPr/>
          <p:nvPr/>
        </p:nvSpPr>
        <p:spPr>
          <a:xfrm>
            <a:off x="7306733" y="5926666"/>
            <a:ext cx="4885267" cy="9313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F5AF66A-2598-01E2-7070-26614A49547D}"/>
              </a:ext>
            </a:extLst>
          </p:cNvPr>
          <p:cNvSpPr txBox="1"/>
          <p:nvPr/>
        </p:nvSpPr>
        <p:spPr bwMode="auto">
          <a:xfrm>
            <a:off x="955040" y="1002715"/>
            <a:ext cx="10881359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dirty="0"/>
              <a:t>(0.3分)(c)根据分子轨道与 Lewis 结构的对应关系，写出 XeF2的 Lewis 结构，如有必要可以画出共振结构。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B620AC9-B877-BB45-F671-B4B5B7C296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273" y="2010954"/>
            <a:ext cx="8648843" cy="1211263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B2DAE8B1-D188-5E58-4352-99404834BD47}"/>
              </a:ext>
            </a:extLst>
          </p:cNvPr>
          <p:cNvSpPr txBox="1"/>
          <p:nvPr/>
        </p:nvSpPr>
        <p:spPr bwMode="auto">
          <a:xfrm>
            <a:off x="1228616" y="3333279"/>
            <a:ext cx="9734767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400" dirty="0"/>
              <a:t>成键与电荷 0.1分，孤对电子0.1分，两个共振结构0.1分;F-Xe-F得0.1分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796BF4E-B38E-1556-47A8-ED3EC5EF15C7}"/>
              </a:ext>
            </a:extLst>
          </p:cNvPr>
          <p:cNvSpPr txBox="1"/>
          <p:nvPr/>
        </p:nvSpPr>
        <p:spPr bwMode="auto">
          <a:xfrm>
            <a:off x="1194678" y="3920995"/>
            <a:ext cx="9392041" cy="5232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dirty="0"/>
              <a:t>(0.2分)(d)XeF2中 </a:t>
            </a:r>
            <a:r>
              <a:rPr lang="zh-CN" altLang="en-US" sz="2800" dirty="0">
                <a:solidFill>
                  <a:srgbClr val="FF0000"/>
                </a:solidFill>
              </a:rPr>
              <a:t>Xe-F</a:t>
            </a:r>
            <a:r>
              <a:rPr lang="zh-CN" altLang="en-US" sz="2800" dirty="0"/>
              <a:t>的键级是多少?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CACB7D4-A145-EFA9-5ACC-622A57661612}"/>
              </a:ext>
            </a:extLst>
          </p:cNvPr>
          <p:cNvSpPr txBox="1"/>
          <p:nvPr/>
        </p:nvSpPr>
        <p:spPr bwMode="auto">
          <a:xfrm>
            <a:off x="1380273" y="5631237"/>
            <a:ext cx="6106160" cy="5232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CN" altLang="en-US" sz="2800" dirty="0"/>
              <a:t>键级</a:t>
            </a:r>
            <a:r>
              <a:rPr lang="en-US" altLang="zh-CN" sz="2800" dirty="0"/>
              <a:t>=1/2</a:t>
            </a:r>
            <a:r>
              <a:rPr lang="zh-CN" altLang="en-US" sz="2800" dirty="0"/>
              <a:t>=0.5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96C82A39-6870-5068-A1EC-A1F7FFCB2BB8}"/>
              </a:ext>
            </a:extLst>
          </p:cNvPr>
          <p:cNvSpPr txBox="1"/>
          <p:nvPr/>
        </p:nvSpPr>
        <p:spPr bwMode="auto">
          <a:xfrm>
            <a:off x="1299632" y="4816108"/>
            <a:ext cx="10892367" cy="5232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zh-CN" altLang="en-US" sz="2800" i="0" dirty="0">
                <a:effectLst/>
                <a:latin typeface="KaTeX_Main"/>
              </a:rPr>
              <a:t>键级</a:t>
            </a:r>
            <a:r>
              <a:rPr lang="en-US" altLang="zh-CN" sz="2800" i="0" dirty="0">
                <a:effectLst/>
                <a:latin typeface="KaTeX_Main"/>
              </a:rPr>
              <a:t>=1/2(</a:t>
            </a:r>
            <a:r>
              <a:rPr lang="zh-CN" altLang="en-US" sz="2800" i="0" dirty="0">
                <a:effectLst/>
                <a:latin typeface="KaTeX_Main"/>
              </a:rPr>
              <a:t>成键电子数目−反键电子数目</a:t>
            </a:r>
            <a:r>
              <a:rPr lang="en-US" altLang="zh-CN" sz="2800" i="0" dirty="0">
                <a:effectLst/>
                <a:latin typeface="KaTeX_Main"/>
              </a:rPr>
              <a:t>)</a:t>
            </a:r>
            <a:r>
              <a:rPr lang="zh-CN" altLang="en-US" sz="2800" i="0" dirty="0">
                <a:effectLst/>
                <a:latin typeface="KaTeX_Main"/>
              </a:rPr>
              <a:t> </a:t>
            </a:r>
            <a:r>
              <a:rPr lang="en-US" altLang="zh-CN" sz="2800" i="0" dirty="0">
                <a:effectLst/>
                <a:latin typeface="KaTeX_Main"/>
              </a:rPr>
              <a:t>=</a:t>
            </a:r>
            <a:r>
              <a:rPr lang="en-US" altLang="zh-CN" sz="2800" dirty="0">
                <a:latin typeface="KaTeX_Main"/>
              </a:rPr>
              <a:t>1/2</a:t>
            </a:r>
            <a:r>
              <a:rPr lang="zh-CN" altLang="en-US" sz="2800" dirty="0">
                <a:latin typeface="KaTeX_Main"/>
              </a:rPr>
              <a:t>（</a:t>
            </a:r>
            <a:r>
              <a:rPr lang="en-US" altLang="zh-CN" sz="2800" dirty="0">
                <a:latin typeface="KaTeX_Main"/>
              </a:rPr>
              <a:t>6-5</a:t>
            </a:r>
            <a:r>
              <a:rPr lang="zh-CN" altLang="en-US" sz="2800" dirty="0">
                <a:latin typeface="KaTeX_Main"/>
              </a:rPr>
              <a:t>）</a:t>
            </a:r>
            <a:r>
              <a:rPr lang="en-US" altLang="zh-CN" sz="2800" dirty="0">
                <a:latin typeface="KaTeX_Main"/>
              </a:rPr>
              <a:t>=0.5</a:t>
            </a:r>
            <a:endParaRPr lang="en-US" altLang="zh-CN" sz="2800" i="0" dirty="0">
              <a:effectLst/>
              <a:latin typeface="KaTeX_Main"/>
            </a:endParaRPr>
          </a:p>
        </p:txBody>
      </p:sp>
    </p:spTree>
    <p:extLst>
      <p:ext uri="{BB962C8B-B14F-4D97-AF65-F5344CB8AC3E}">
        <p14:creationId xmlns:p14="http://schemas.microsoft.com/office/powerpoint/2010/main" val="3245007023"/>
      </p:ext>
    </p:extLst>
  </p:cSld>
  <p:clrMapOvr>
    <a:masterClrMapping/>
  </p:clrMapOvr>
</p:sld>
</file>

<file path=ppt/theme/theme1.xml><?xml version="1.0" encoding="utf-8"?>
<a:theme xmlns:a="http://schemas.openxmlformats.org/drawingml/2006/main" name="上科大官方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 bwMode="auto">
        <a:noFill/>
        <a:ln>
          <a:noFill/>
        </a:ln>
      </a:spPr>
      <a:bodyPr wrap="square" lIns="487582" tIns="91422" rIns="487582" bIns="195033">
        <a:spAutoFit/>
      </a:bodyPr>
      <a:lstStyle>
        <a:defPPr marL="0" marR="0" indent="0" algn="l" defTabSz="1228090" rtl="0" eaLnBrk="1" fontAlgn="auto" latinLnBrk="0" hangingPunct="1">
          <a:lnSpc>
            <a:spcPct val="89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200" b="0" i="0" u="none" strike="noStrike" kern="1200" cap="none" spc="100" normalizeH="0" baseline="0" noProof="0" dirty="0">
            <a:ln>
              <a:noFill/>
            </a:ln>
            <a:solidFill>
              <a:srgbClr val="AE3334"/>
            </a:solidFill>
            <a:effectLst/>
            <a:uLnTx/>
            <a:uFillTx/>
            <a:latin typeface="Arial" panose="020B0604020202020204" pitchFamily="34" charset="0"/>
            <a:ea typeface="Gadugi" panose="020B0502040204020203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4448</TotalTime>
  <Words>1352</Words>
  <Application>Microsoft Office PowerPoint</Application>
  <PresentationFormat>宽屏</PresentationFormat>
  <Paragraphs>104</Paragraphs>
  <Slides>16</Slides>
  <Notes>1</Notes>
  <HiddenSlides>0</HiddenSlides>
  <MMClips>0</MMClips>
  <ScaleCrop>false</ScaleCrop>
  <HeadingPairs>
    <vt:vector size="8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6" baseType="lpstr">
      <vt:lpstr>-apple-system</vt:lpstr>
      <vt:lpstr>KaTeX_Main</vt:lpstr>
      <vt:lpstr>等线</vt:lpstr>
      <vt:lpstr>黑体</vt:lpstr>
      <vt:lpstr>宋体</vt:lpstr>
      <vt:lpstr>微软雅黑</vt:lpstr>
      <vt:lpstr>Arial</vt:lpstr>
      <vt:lpstr>Calibri</vt:lpstr>
      <vt:lpstr>上科大官方1</vt:lpstr>
      <vt:lpstr>Microsoft Word Document</vt:lpstr>
      <vt:lpstr>PowerPoint 演示文稿</vt:lpstr>
      <vt:lpstr>Midterm2</vt:lpstr>
      <vt:lpstr>Midterm2</vt:lpstr>
      <vt:lpstr>Midterm2</vt:lpstr>
      <vt:lpstr>Midterm2</vt:lpstr>
      <vt:lpstr>Midterm2</vt:lpstr>
      <vt:lpstr>Midterm2</vt:lpstr>
      <vt:lpstr>Midterm2</vt:lpstr>
      <vt:lpstr>Midterm2</vt:lpstr>
      <vt:lpstr>Midterm2</vt:lpstr>
      <vt:lpstr>Midterm2</vt:lpstr>
      <vt:lpstr>Midterm2</vt:lpstr>
      <vt:lpstr>Midterm2</vt:lpstr>
      <vt:lpstr>Midterm2</vt:lpstr>
      <vt:lpstr>Midterm2</vt:lpstr>
      <vt:lpstr>Midterm2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keandavid719@gmail.com</dc:creator>
  <cp:lastModifiedBy>Sakuri LD</cp:lastModifiedBy>
  <cp:revision>6</cp:revision>
  <dcterms:created xsi:type="dcterms:W3CDTF">2024-12-13T06:20:38Z</dcterms:created>
  <dcterms:modified xsi:type="dcterms:W3CDTF">2025-05-12T07:08:58Z</dcterms:modified>
</cp:coreProperties>
</file>